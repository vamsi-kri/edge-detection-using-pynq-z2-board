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31"/>
  </p:notesMasterIdLst>
  <p:handoutMasterIdLst>
    <p:handoutMasterId r:id="rId32"/>
  </p:handoutMasterIdLst>
  <p:sldIdLst>
    <p:sldId id="256" r:id="rId2"/>
    <p:sldId id="283" r:id="rId3"/>
    <p:sldId id="257" r:id="rId4"/>
    <p:sldId id="268" r:id="rId5"/>
    <p:sldId id="269" r:id="rId6"/>
    <p:sldId id="271" r:id="rId7"/>
    <p:sldId id="258" r:id="rId8"/>
    <p:sldId id="272" r:id="rId9"/>
    <p:sldId id="263" r:id="rId10"/>
    <p:sldId id="276" r:id="rId11"/>
    <p:sldId id="275" r:id="rId12"/>
    <p:sldId id="277" r:id="rId13"/>
    <p:sldId id="278" r:id="rId14"/>
    <p:sldId id="259" r:id="rId15"/>
    <p:sldId id="260" r:id="rId16"/>
    <p:sldId id="284" r:id="rId17"/>
    <p:sldId id="261" r:id="rId18"/>
    <p:sldId id="264" r:id="rId19"/>
    <p:sldId id="280" r:id="rId20"/>
    <p:sldId id="281" r:id="rId21"/>
    <p:sldId id="273" r:id="rId22"/>
    <p:sldId id="266" r:id="rId23"/>
    <p:sldId id="279" r:id="rId24"/>
    <p:sldId id="285" r:id="rId25"/>
    <p:sldId id="270" r:id="rId26"/>
    <p:sldId id="267" r:id="rId27"/>
    <p:sldId id="286" r:id="rId28"/>
    <p:sldId id="282" r:id="rId29"/>
    <p:sldId id="27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EA12F2-1192-4DDF-A735-E570B2B20AD6}" v="40" dt="2025-10-24T05:48:30.2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varScale="1">
        <p:scale>
          <a:sx n="84" d="100"/>
          <a:sy n="84" d="100"/>
        </p:scale>
        <p:origin x="494"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 VAMSI KRISHNA" userId="cdf57ee1584868c1" providerId="LiveId" clId="{CECB45C4-DCBF-40F3-AFF8-F8FFC3EE84A3}"/>
    <pc:docChg chg="undo redo custSel addSld delSld modSld sldOrd">
      <pc:chgData name="P VAMSI KRISHNA" userId="cdf57ee1584868c1" providerId="LiveId" clId="{CECB45C4-DCBF-40F3-AFF8-F8FFC3EE84A3}" dt="2025-11-06T12:41:20.668" v="1003" actId="1076"/>
      <pc:docMkLst>
        <pc:docMk/>
      </pc:docMkLst>
      <pc:sldChg chg="addSp modSp mod">
        <pc:chgData name="P VAMSI KRISHNA" userId="cdf57ee1584868c1" providerId="LiveId" clId="{CECB45C4-DCBF-40F3-AFF8-F8FFC3EE84A3}" dt="2025-10-24T05:47:01.846" v="917" actId="20577"/>
        <pc:sldMkLst>
          <pc:docMk/>
          <pc:sldMk cId="230852542" sldId="256"/>
        </pc:sldMkLst>
        <pc:spChg chg="mod">
          <ac:chgData name="P VAMSI KRISHNA" userId="cdf57ee1584868c1" providerId="LiveId" clId="{CECB45C4-DCBF-40F3-AFF8-F8FFC3EE84A3}" dt="2025-10-24T05:47:01.846" v="917" actId="20577"/>
          <ac:spMkLst>
            <pc:docMk/>
            <pc:sldMk cId="230852542" sldId="256"/>
            <ac:spMk id="3" creationId="{5D8A2B66-D12A-A9F1-B487-70B9B3F68915}"/>
          </ac:spMkLst>
        </pc:spChg>
        <pc:spChg chg="mod">
          <ac:chgData name="P VAMSI KRISHNA" userId="cdf57ee1584868c1" providerId="LiveId" clId="{CECB45C4-DCBF-40F3-AFF8-F8FFC3EE84A3}" dt="2025-10-24T04:01:53.210" v="649" actId="20577"/>
          <ac:spMkLst>
            <pc:docMk/>
            <pc:sldMk cId="230852542" sldId="256"/>
            <ac:spMk id="5" creationId="{C72D91E7-CC14-2696-8388-1F952EEDDC9E}"/>
          </ac:spMkLst>
        </pc:spChg>
        <pc:picChg chg="add mod">
          <ac:chgData name="P VAMSI KRISHNA" userId="cdf57ee1584868c1" providerId="LiveId" clId="{CECB45C4-DCBF-40F3-AFF8-F8FFC3EE84A3}" dt="2025-10-24T05:45:38.683" v="885" actId="1076"/>
          <ac:picMkLst>
            <pc:docMk/>
            <pc:sldMk cId="230852542" sldId="256"/>
            <ac:picMk id="2052" creationId="{2C535F79-AC14-EA5A-64D9-A496A0500309}"/>
          </ac:picMkLst>
        </pc:picChg>
      </pc:sldChg>
      <pc:sldChg chg="modSp mod ord">
        <pc:chgData name="P VAMSI KRISHNA" userId="cdf57ee1584868c1" providerId="LiveId" clId="{CECB45C4-DCBF-40F3-AFF8-F8FFC3EE84A3}" dt="2025-10-24T04:08:23.118" v="677"/>
        <pc:sldMkLst>
          <pc:docMk/>
          <pc:sldMk cId="2449070297" sldId="257"/>
        </pc:sldMkLst>
      </pc:sldChg>
      <pc:sldChg chg="addSp delSp modSp mod">
        <pc:chgData name="P VAMSI KRISHNA" userId="cdf57ee1584868c1" providerId="LiveId" clId="{CECB45C4-DCBF-40F3-AFF8-F8FFC3EE84A3}" dt="2025-10-24T05:48:54.870" v="925" actId="1076"/>
        <pc:sldMkLst>
          <pc:docMk/>
          <pc:sldMk cId="2845009022" sldId="258"/>
        </pc:sldMkLst>
        <pc:spChg chg="mod">
          <ac:chgData name="P VAMSI KRISHNA" userId="cdf57ee1584868c1" providerId="LiveId" clId="{CECB45C4-DCBF-40F3-AFF8-F8FFC3EE84A3}" dt="2025-10-24T04:13:38.482" v="720" actId="1076"/>
          <ac:spMkLst>
            <pc:docMk/>
            <pc:sldMk cId="2845009022" sldId="258"/>
            <ac:spMk id="2" creationId="{4DF7CB4A-5EE3-ACAE-1CCE-1DF3666F2DA7}"/>
          </ac:spMkLst>
        </pc:spChg>
        <pc:graphicFrameChg chg="add mod modGraphic">
          <ac:chgData name="P VAMSI KRISHNA" userId="cdf57ee1584868c1" providerId="LiveId" clId="{CECB45C4-DCBF-40F3-AFF8-F8FFC3EE84A3}" dt="2025-10-24T05:48:54.870" v="925" actId="1076"/>
          <ac:graphicFrameMkLst>
            <pc:docMk/>
            <pc:sldMk cId="2845009022" sldId="258"/>
            <ac:graphicFrameMk id="3" creationId="{BBE5645F-A8CE-03F6-8060-80B476DE8EF7}"/>
          </ac:graphicFrameMkLst>
        </pc:graphicFrameChg>
      </pc:sldChg>
      <pc:sldChg chg="modSp mod">
        <pc:chgData name="P VAMSI KRISHNA" userId="cdf57ee1584868c1" providerId="LiveId" clId="{CECB45C4-DCBF-40F3-AFF8-F8FFC3EE84A3}" dt="2025-10-24T06:13:55.657" v="968" actId="20577"/>
        <pc:sldMkLst>
          <pc:docMk/>
          <pc:sldMk cId="992954614" sldId="259"/>
        </pc:sldMkLst>
        <pc:spChg chg="mod">
          <ac:chgData name="P VAMSI KRISHNA" userId="cdf57ee1584868c1" providerId="LiveId" clId="{CECB45C4-DCBF-40F3-AFF8-F8FFC3EE84A3}" dt="2025-10-23T11:34:06.842" v="632" actId="20577"/>
          <ac:spMkLst>
            <pc:docMk/>
            <pc:sldMk cId="992954614" sldId="259"/>
            <ac:spMk id="2" creationId="{8291B57C-E525-3FE5-4E75-13F0389C3611}"/>
          </ac:spMkLst>
        </pc:spChg>
        <pc:spChg chg="mod">
          <ac:chgData name="P VAMSI KRISHNA" userId="cdf57ee1584868c1" providerId="LiveId" clId="{CECB45C4-DCBF-40F3-AFF8-F8FFC3EE84A3}" dt="2025-10-24T06:13:55.657" v="968" actId="20577"/>
          <ac:spMkLst>
            <pc:docMk/>
            <pc:sldMk cId="992954614" sldId="259"/>
            <ac:spMk id="14" creationId="{F8C90384-4623-27FC-0E5A-DCF331CA06AA}"/>
          </ac:spMkLst>
        </pc:spChg>
      </pc:sldChg>
      <pc:sldChg chg="addSp modSp mod">
        <pc:chgData name="P VAMSI KRISHNA" userId="cdf57ee1584868c1" providerId="LiveId" clId="{CECB45C4-DCBF-40F3-AFF8-F8FFC3EE84A3}" dt="2025-10-23T11:35:00.404" v="635" actId="208"/>
        <pc:sldMkLst>
          <pc:docMk/>
          <pc:sldMk cId="631965036" sldId="260"/>
        </pc:sldMkLst>
        <pc:spChg chg="add mod">
          <ac:chgData name="P VAMSI KRISHNA" userId="cdf57ee1584868c1" providerId="LiveId" clId="{CECB45C4-DCBF-40F3-AFF8-F8FFC3EE84A3}" dt="2025-10-23T11:35:00.404" v="635" actId="208"/>
          <ac:spMkLst>
            <pc:docMk/>
            <pc:sldMk cId="631965036" sldId="260"/>
            <ac:spMk id="3" creationId="{95FF7B90-91A7-D848-F0D7-6CF2C5D5CDB2}"/>
          </ac:spMkLst>
        </pc:spChg>
      </pc:sldChg>
      <pc:sldChg chg="modSp mod ord">
        <pc:chgData name="P VAMSI KRISHNA" userId="cdf57ee1584868c1" providerId="LiveId" clId="{CECB45C4-DCBF-40F3-AFF8-F8FFC3EE84A3}" dt="2025-10-24T06:12:44.871" v="928" actId="20577"/>
        <pc:sldMkLst>
          <pc:docMk/>
          <pc:sldMk cId="833031075" sldId="261"/>
        </pc:sldMkLst>
        <pc:spChg chg="mod">
          <ac:chgData name="P VAMSI KRISHNA" userId="cdf57ee1584868c1" providerId="LiveId" clId="{CECB45C4-DCBF-40F3-AFF8-F8FFC3EE84A3}" dt="2025-10-24T06:12:44.871" v="928" actId="20577"/>
          <ac:spMkLst>
            <pc:docMk/>
            <pc:sldMk cId="833031075" sldId="261"/>
            <ac:spMk id="25" creationId="{BDB8BB86-0A77-A154-B4CA-FCB1B3F007E0}"/>
          </ac:spMkLst>
        </pc:spChg>
      </pc:sldChg>
      <pc:sldChg chg="modSp mod">
        <pc:chgData name="P VAMSI KRISHNA" userId="cdf57ee1584868c1" providerId="LiveId" clId="{CECB45C4-DCBF-40F3-AFF8-F8FFC3EE84A3}" dt="2025-11-06T12:41:20.668" v="1003" actId="1076"/>
        <pc:sldMkLst>
          <pc:docMk/>
          <pc:sldMk cId="3339424277" sldId="264"/>
        </pc:sldMkLst>
        <pc:picChg chg="mod">
          <ac:chgData name="P VAMSI KRISHNA" userId="cdf57ee1584868c1" providerId="LiveId" clId="{CECB45C4-DCBF-40F3-AFF8-F8FFC3EE84A3}" dt="2025-11-06T12:41:20.668" v="1003" actId="1076"/>
          <ac:picMkLst>
            <pc:docMk/>
            <pc:sldMk cId="3339424277" sldId="264"/>
            <ac:picMk id="7" creationId="{54E19859-0548-FEE9-B651-8A1AF5BF7AC8}"/>
          </ac:picMkLst>
        </pc:picChg>
      </pc:sldChg>
      <pc:sldChg chg="ord">
        <pc:chgData name="P VAMSI KRISHNA" userId="cdf57ee1584868c1" providerId="LiveId" clId="{CECB45C4-DCBF-40F3-AFF8-F8FFC3EE84A3}" dt="2025-10-24T04:30:17.640" v="800"/>
        <pc:sldMkLst>
          <pc:docMk/>
          <pc:sldMk cId="2767831783" sldId="267"/>
        </pc:sldMkLst>
      </pc:sldChg>
      <pc:sldChg chg="modSp mod ord">
        <pc:chgData name="P VAMSI KRISHNA" userId="cdf57ee1584868c1" providerId="LiveId" clId="{CECB45C4-DCBF-40F3-AFF8-F8FFC3EE84A3}" dt="2025-10-24T04:08:26.712" v="679"/>
        <pc:sldMkLst>
          <pc:docMk/>
          <pc:sldMk cId="1614588809" sldId="268"/>
        </pc:sldMkLst>
      </pc:sldChg>
      <pc:sldChg chg="modSp mod ord">
        <pc:chgData name="P VAMSI KRISHNA" userId="cdf57ee1584868c1" providerId="LiveId" clId="{CECB45C4-DCBF-40F3-AFF8-F8FFC3EE84A3}" dt="2025-10-24T04:08:28.553" v="681"/>
        <pc:sldMkLst>
          <pc:docMk/>
          <pc:sldMk cId="2541196688" sldId="269"/>
        </pc:sldMkLst>
      </pc:sldChg>
      <pc:sldChg chg="ord">
        <pc:chgData name="P VAMSI KRISHNA" userId="cdf57ee1584868c1" providerId="LiveId" clId="{CECB45C4-DCBF-40F3-AFF8-F8FFC3EE84A3}" dt="2025-10-24T04:08:38.288" v="683"/>
        <pc:sldMkLst>
          <pc:docMk/>
          <pc:sldMk cId="2170581856" sldId="271"/>
        </pc:sldMkLst>
      </pc:sldChg>
      <pc:sldChg chg="modSp mod">
        <pc:chgData name="P VAMSI KRISHNA" userId="cdf57ee1584868c1" providerId="LiveId" clId="{CECB45C4-DCBF-40F3-AFF8-F8FFC3EE84A3}" dt="2025-10-24T04:31:29.030" v="828" actId="20577"/>
        <pc:sldMkLst>
          <pc:docMk/>
          <pc:sldMk cId="3293799435" sldId="272"/>
        </pc:sldMkLst>
        <pc:spChg chg="mod">
          <ac:chgData name="P VAMSI KRISHNA" userId="cdf57ee1584868c1" providerId="LiveId" clId="{CECB45C4-DCBF-40F3-AFF8-F8FFC3EE84A3}" dt="2025-10-24T04:31:29.030" v="828" actId="20577"/>
          <ac:spMkLst>
            <pc:docMk/>
            <pc:sldMk cId="3293799435" sldId="272"/>
            <ac:spMk id="2" creationId="{B0E1AC75-B427-1B28-0EDA-4FCB0FA331F2}"/>
          </ac:spMkLst>
        </pc:spChg>
      </pc:sldChg>
      <pc:sldChg chg="addSp delSp modSp mod">
        <pc:chgData name="P VAMSI KRISHNA" userId="cdf57ee1584868c1" providerId="LiveId" clId="{CECB45C4-DCBF-40F3-AFF8-F8FFC3EE84A3}" dt="2025-10-24T04:29:48.779" v="798" actId="2711"/>
        <pc:sldMkLst>
          <pc:docMk/>
          <pc:sldMk cId="1664973582" sldId="273"/>
        </pc:sldMkLst>
        <pc:spChg chg="mod">
          <ac:chgData name="P VAMSI KRISHNA" userId="cdf57ee1584868c1" providerId="LiveId" clId="{CECB45C4-DCBF-40F3-AFF8-F8FFC3EE84A3}" dt="2025-10-24T04:24:27.108" v="754" actId="1076"/>
          <ac:spMkLst>
            <pc:docMk/>
            <pc:sldMk cId="1664973582" sldId="273"/>
            <ac:spMk id="2" creationId="{08EFAEA1-94CE-48B0-1ABA-F810CD25EE7B}"/>
          </ac:spMkLst>
        </pc:spChg>
        <pc:spChg chg="add mod">
          <ac:chgData name="P VAMSI KRISHNA" userId="cdf57ee1584868c1" providerId="LiveId" clId="{CECB45C4-DCBF-40F3-AFF8-F8FFC3EE84A3}" dt="2025-10-24T04:29:48.779" v="798" actId="2711"/>
          <ac:spMkLst>
            <pc:docMk/>
            <pc:sldMk cId="1664973582" sldId="273"/>
            <ac:spMk id="6" creationId="{4C637DC6-F397-2E19-E2DF-85F726DB85AE}"/>
          </ac:spMkLst>
        </pc:spChg>
        <pc:picChg chg="add mod">
          <ac:chgData name="P VAMSI KRISHNA" userId="cdf57ee1584868c1" providerId="LiveId" clId="{CECB45C4-DCBF-40F3-AFF8-F8FFC3EE84A3}" dt="2025-10-24T04:24:18.497" v="753" actId="1076"/>
          <ac:picMkLst>
            <pc:docMk/>
            <pc:sldMk cId="1664973582" sldId="273"/>
            <ac:picMk id="5" creationId="{2DC56309-5041-70D7-62EA-FF693D690DCF}"/>
          </ac:picMkLst>
        </pc:picChg>
      </pc:sldChg>
      <pc:sldChg chg="addSp delSp modSp add mod ord">
        <pc:chgData name="P VAMSI KRISHNA" userId="cdf57ee1584868c1" providerId="LiveId" clId="{CECB45C4-DCBF-40F3-AFF8-F8FFC3EE84A3}" dt="2025-10-24T05:44:50.769" v="882" actId="478"/>
        <pc:sldMkLst>
          <pc:docMk/>
          <pc:sldMk cId="745393259" sldId="282"/>
        </pc:sldMkLst>
        <pc:picChg chg="add del mod ord">
          <ac:chgData name="P VAMSI KRISHNA" userId="cdf57ee1584868c1" providerId="LiveId" clId="{CECB45C4-DCBF-40F3-AFF8-F8FFC3EE84A3}" dt="2025-10-24T05:44:50.769" v="882" actId="478"/>
          <ac:picMkLst>
            <pc:docMk/>
            <pc:sldMk cId="745393259" sldId="282"/>
            <ac:picMk id="5" creationId="{D7D76B9D-4D9E-85F3-F37D-EA6CAC0A707B}"/>
          </ac:picMkLst>
        </pc:picChg>
      </pc:sldChg>
      <pc:sldChg chg="modSp add mod ord">
        <pc:chgData name="P VAMSI KRISHNA" userId="cdf57ee1584868c1" providerId="LiveId" clId="{CECB45C4-DCBF-40F3-AFF8-F8FFC3EE84A3}" dt="2025-10-24T04:08:13.657" v="675" actId="1076"/>
        <pc:sldMkLst>
          <pc:docMk/>
          <pc:sldMk cId="3774180435" sldId="283"/>
        </pc:sldMkLst>
        <pc:spChg chg="mod">
          <ac:chgData name="P VAMSI KRISHNA" userId="cdf57ee1584868c1" providerId="LiveId" clId="{CECB45C4-DCBF-40F3-AFF8-F8FFC3EE84A3}" dt="2025-10-24T04:07:16.122" v="669" actId="20577"/>
          <ac:spMkLst>
            <pc:docMk/>
            <pc:sldMk cId="3774180435" sldId="283"/>
            <ac:spMk id="2" creationId="{32BFB483-575E-F485-8E7A-C176915ADAC8}"/>
          </ac:spMkLst>
        </pc:spChg>
        <pc:spChg chg="mod">
          <ac:chgData name="P VAMSI KRISHNA" userId="cdf57ee1584868c1" providerId="LiveId" clId="{CECB45C4-DCBF-40F3-AFF8-F8FFC3EE84A3}" dt="2025-10-24T04:08:13.657" v="675" actId="1076"/>
          <ac:spMkLst>
            <pc:docMk/>
            <pc:sldMk cId="3774180435" sldId="283"/>
            <ac:spMk id="14" creationId="{529F9F00-CEB2-A030-7321-3754B718CC0D}"/>
          </ac:spMkLst>
        </pc:spChg>
      </pc:sldChg>
      <pc:sldChg chg="addSp delSp modSp add mod">
        <pc:chgData name="P VAMSI KRISHNA" userId="cdf57ee1584868c1" providerId="LiveId" clId="{CECB45C4-DCBF-40F3-AFF8-F8FFC3EE84A3}" dt="2025-10-24T04:26:34.843" v="788" actId="208"/>
        <pc:sldMkLst>
          <pc:docMk/>
          <pc:sldMk cId="2344229388" sldId="284"/>
        </pc:sldMkLst>
        <pc:spChg chg="mod">
          <ac:chgData name="P VAMSI KRISHNA" userId="cdf57ee1584868c1" providerId="LiveId" clId="{CECB45C4-DCBF-40F3-AFF8-F8FFC3EE84A3}" dt="2025-10-24T04:25:51.362" v="785" actId="20577"/>
          <ac:spMkLst>
            <pc:docMk/>
            <pc:sldMk cId="2344229388" sldId="284"/>
            <ac:spMk id="2" creationId="{E2E45423-13F4-D4EE-0EB2-94DBC0CF0481}"/>
          </ac:spMkLst>
        </pc:spChg>
        <pc:spChg chg="add mod">
          <ac:chgData name="P VAMSI KRISHNA" userId="cdf57ee1584868c1" providerId="LiveId" clId="{CECB45C4-DCBF-40F3-AFF8-F8FFC3EE84A3}" dt="2025-10-24T04:26:34.843" v="788" actId="208"/>
          <ac:spMkLst>
            <pc:docMk/>
            <pc:sldMk cId="2344229388" sldId="284"/>
            <ac:spMk id="9" creationId="{5930736B-C147-06B1-D001-B93E7C7412EF}"/>
          </ac:spMkLst>
        </pc:spChg>
        <pc:picChg chg="add mod">
          <ac:chgData name="P VAMSI KRISHNA" userId="cdf57ee1584868c1" providerId="LiveId" clId="{CECB45C4-DCBF-40F3-AFF8-F8FFC3EE84A3}" dt="2025-10-24T04:25:37.007" v="762" actId="1076"/>
          <ac:picMkLst>
            <pc:docMk/>
            <pc:sldMk cId="2344229388" sldId="284"/>
            <ac:picMk id="8" creationId="{6F519D42-BE08-C205-50DB-85B880F637CD}"/>
          </ac:picMkLst>
        </pc:picChg>
      </pc:sldChg>
      <pc:sldChg chg="modSp add mod ord">
        <pc:chgData name="P VAMSI KRISHNA" userId="cdf57ee1584868c1" providerId="LiveId" clId="{CECB45C4-DCBF-40F3-AFF8-F8FFC3EE84A3}" dt="2025-10-24T05:21:58.858" v="879" actId="1076"/>
        <pc:sldMkLst>
          <pc:docMk/>
          <pc:sldMk cId="1507499488" sldId="285"/>
        </pc:sldMkLst>
        <pc:spChg chg="mod">
          <ac:chgData name="P VAMSI KRISHNA" userId="cdf57ee1584868c1" providerId="LiveId" clId="{CECB45C4-DCBF-40F3-AFF8-F8FFC3EE84A3}" dt="2025-10-24T05:21:58.858" v="879" actId="1076"/>
          <ac:spMkLst>
            <pc:docMk/>
            <pc:sldMk cId="1507499488" sldId="285"/>
            <ac:spMk id="2" creationId="{8EFBB4EE-CCE1-E58A-21A9-DB0BCBFA26A5}"/>
          </ac:spMkLst>
        </pc:spChg>
        <pc:graphicFrameChg chg="mod modGraphic">
          <ac:chgData name="P VAMSI KRISHNA" userId="cdf57ee1584868c1" providerId="LiveId" clId="{CECB45C4-DCBF-40F3-AFF8-F8FFC3EE84A3}" dt="2025-10-24T05:21:53.198" v="878" actId="1076"/>
          <ac:graphicFrameMkLst>
            <pc:docMk/>
            <pc:sldMk cId="1507499488" sldId="285"/>
            <ac:graphicFrameMk id="4" creationId="{14690D6E-9040-6E15-FD7C-E0A21DEFE717}"/>
          </ac:graphicFrameMkLst>
        </pc:graphicFrameChg>
      </pc:sldChg>
      <pc:sldChg chg="addSp delSp modSp add mod">
        <pc:chgData name="P VAMSI KRISHNA" userId="cdf57ee1584868c1" providerId="LiveId" clId="{CECB45C4-DCBF-40F3-AFF8-F8FFC3EE84A3}" dt="2025-10-24T06:16:07.869" v="1000" actId="122"/>
        <pc:sldMkLst>
          <pc:docMk/>
          <pc:sldMk cId="924170407" sldId="286"/>
        </pc:sldMkLst>
        <pc:spChg chg="add del mod">
          <ac:chgData name="P VAMSI KRISHNA" userId="cdf57ee1584868c1" providerId="LiveId" clId="{CECB45C4-DCBF-40F3-AFF8-F8FFC3EE84A3}" dt="2025-10-24T06:16:07.869" v="1000" actId="122"/>
          <ac:spMkLst>
            <pc:docMk/>
            <pc:sldMk cId="924170407" sldId="286"/>
            <ac:spMk id="2" creationId="{5D1947CA-9A30-FEFE-60DE-AE07AD0F4C6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9616215-90AC-39B8-7BB7-A049FB26C5F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05D09192-96A8-F4EF-055F-8809022CC26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8210FF5-C4FC-48A8-AFAC-489555C8DB37}" type="datetimeFigureOut">
              <a:rPr lang="en-IN" smtClean="0"/>
              <a:t>06-11-2025</a:t>
            </a:fld>
            <a:endParaRPr lang="en-IN"/>
          </a:p>
        </p:txBody>
      </p:sp>
      <p:sp>
        <p:nvSpPr>
          <p:cNvPr id="4" name="Footer Placeholder 3">
            <a:extLst>
              <a:ext uri="{FF2B5EF4-FFF2-40B4-BE49-F238E27FC236}">
                <a16:creationId xmlns:a16="http://schemas.microsoft.com/office/drawing/2014/main" id="{FEF82F24-C38A-FD13-A117-2CFE14D4A32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93700FDC-5C70-F0D2-A9C3-0D6A47A512E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D94E13F-9166-454B-9BEA-89DCC3AC7592}" type="slidenum">
              <a:rPr lang="en-IN" smtClean="0"/>
              <a:t>‹#›</a:t>
            </a:fld>
            <a:endParaRPr lang="en-IN"/>
          </a:p>
        </p:txBody>
      </p:sp>
    </p:spTree>
    <p:extLst>
      <p:ext uri="{BB962C8B-B14F-4D97-AF65-F5344CB8AC3E}">
        <p14:creationId xmlns:p14="http://schemas.microsoft.com/office/powerpoint/2010/main" val="359314613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93A996-817B-4A04-B8C0-FDB018CE1A21}" type="datetimeFigureOut">
              <a:rPr lang="en-IN" smtClean="0"/>
              <a:t>06-11-2025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1A69FD-36A2-4C8C-A76D-F515A694AFD2}" type="slidenum">
              <a:rPr lang="en-IN" smtClean="0"/>
              <a:t>‹#›</a:t>
            </a:fld>
            <a:endParaRPr lang="en-IN"/>
          </a:p>
        </p:txBody>
      </p:sp>
    </p:spTree>
    <p:extLst>
      <p:ext uri="{BB962C8B-B14F-4D97-AF65-F5344CB8AC3E}">
        <p14:creationId xmlns:p14="http://schemas.microsoft.com/office/powerpoint/2010/main" val="2200870147"/>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035799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262211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EE5DE-AD01-7AC8-EEAB-A4751AF2E2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048E97-0FCD-095B-A7CC-FFB6FB1A070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DA70DB9-0450-8802-425F-BCC26EB0B450}"/>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6244200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727200" y="3200400"/>
            <a:ext cx="85344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0C9FD2BD-E657-412C-922C-A371C0BC5B8C}" type="datetime1">
              <a:rPr lang="en-IN" smtClean="0"/>
              <a:t>06-11-2025</a:t>
            </a:fld>
            <a:endParaRPr lang="en-IN"/>
          </a:p>
        </p:txBody>
      </p:sp>
      <p:sp>
        <p:nvSpPr>
          <p:cNvPr id="17" name="Footer Placeholder 16"/>
          <p:cNvSpPr>
            <a:spLocks noGrp="1"/>
          </p:cNvSpPr>
          <p:nvPr>
            <p:ph type="ftr" sz="quarter" idx="11"/>
          </p:nvPr>
        </p:nvSpPr>
        <p:spPr/>
        <p:txBody>
          <a:bodyPr/>
          <a:lstStyle/>
          <a:p>
            <a:endParaRPr lang="en-IN"/>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71352EEA-DDFF-4F4D-80E8-595774DE0C51}" type="slidenum">
              <a:rPr lang="en-IN" smtClean="0"/>
              <a:pPr/>
              <a:t>‹#›</a:t>
            </a:fld>
            <a:endParaRPr lang="en-IN"/>
          </a:p>
        </p:txBody>
      </p:sp>
      <p:sp>
        <p:nvSpPr>
          <p:cNvPr id="7" name="Rectangle 6"/>
          <p:cNvSpPr/>
          <p:nvPr/>
        </p:nvSpPr>
        <p:spPr>
          <a:xfrm>
            <a:off x="83909" y="1449304"/>
            <a:ext cx="12028716"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83909" y="1396720"/>
            <a:ext cx="12028716"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83909" y="2976649"/>
            <a:ext cx="12028716"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609600" y="1505931"/>
            <a:ext cx="109728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31FF528C-F6BB-4E1A-AC9A-5C75F74627BC}" type="datetime1">
              <a:rPr lang="en-IN" smtClean="0"/>
              <a:t>06-11-2025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1352EEA-DDFF-4F4D-80E8-595774DE0C51}" type="slidenum">
              <a:rPr lang="en-IN" smtClean="0"/>
              <a:pPr/>
              <a:t>‹#›</a:t>
            </a:fld>
            <a:endParaRPr lang="en-IN"/>
          </a:p>
        </p:txBody>
      </p:sp>
      <p:sp>
        <p:nvSpPr>
          <p:cNvPr id="8" name="Content Placeholder 7"/>
          <p:cNvSpPr>
            <a:spLocks noGrp="1"/>
          </p:cNvSpPr>
          <p:nvPr>
            <p:ph sz="quarter" idx="1"/>
          </p:nvPr>
        </p:nvSpPr>
        <p:spPr>
          <a:xfrm>
            <a:off x="1219200" y="1447800"/>
            <a:ext cx="103632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63084" y="952501"/>
            <a:ext cx="103632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963084" y="2547938"/>
            <a:ext cx="103632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D52420A8-D065-4DA1-96BA-38A2D0521E12}" type="datetime1">
              <a:rPr lang="en-IN" smtClean="0"/>
              <a:t>06-11-2025</a:t>
            </a:fld>
            <a:endParaRPr lang="en-IN"/>
          </a:p>
        </p:txBody>
      </p:sp>
      <p:sp>
        <p:nvSpPr>
          <p:cNvPr id="5" name="Footer Placeholder 4"/>
          <p:cNvSpPr>
            <a:spLocks noGrp="1"/>
          </p:cNvSpPr>
          <p:nvPr>
            <p:ph type="ftr" sz="quarter" idx="11"/>
          </p:nvPr>
        </p:nvSpPr>
        <p:spPr>
          <a:xfrm>
            <a:off x="1066800" y="6172200"/>
            <a:ext cx="5334000" cy="457200"/>
          </a:xfrm>
        </p:spPr>
        <p:txBody>
          <a:bodyPr/>
          <a:lstStyle/>
          <a:p>
            <a:endParaRPr lang="en-IN"/>
          </a:p>
        </p:txBody>
      </p:sp>
      <p:sp>
        <p:nvSpPr>
          <p:cNvPr id="7" name="Rectangle 6"/>
          <p:cNvSpPr/>
          <p:nvPr/>
        </p:nvSpPr>
        <p:spPr>
          <a:xfrm flipV="1">
            <a:off x="92550" y="2376830"/>
            <a:ext cx="120180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2195" y="2341476"/>
            <a:ext cx="12018375"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075" y="2468880"/>
            <a:ext cx="12019495"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95072" y="6208776"/>
            <a:ext cx="609600" cy="457200"/>
          </a:xfrm>
        </p:spPr>
        <p:txBody>
          <a:bodyPr/>
          <a:lstStyle/>
          <a:p>
            <a:fld id="{71352EEA-DDFF-4F4D-80E8-595774DE0C51}" type="slidenum">
              <a:rPr lang="en-IN" smtClean="0"/>
              <a:pPr/>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4AC97F32-F58E-4852-89CF-F0C8A7D2702D}" type="datetime1">
              <a:rPr lang="en-IN" smtClean="0"/>
              <a:t>06-11-2025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1352EEA-DDFF-4F4D-80E8-595774DE0C51}" type="slidenum">
              <a:rPr lang="en-IN" smtClean="0"/>
              <a:pPr/>
              <a:t>‹#›</a:t>
            </a:fld>
            <a:endParaRPr lang="en-IN"/>
          </a:p>
        </p:txBody>
      </p:sp>
      <p:sp>
        <p:nvSpPr>
          <p:cNvPr id="9" name="Content Placeholder 8"/>
          <p:cNvSpPr>
            <a:spLocks noGrp="1"/>
          </p:cNvSpPr>
          <p:nvPr>
            <p:ph sz="quarter" idx="1"/>
          </p:nvPr>
        </p:nvSpPr>
        <p:spPr>
          <a:xfrm>
            <a:off x="12192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5786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9200" y="273050"/>
            <a:ext cx="103632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12192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6040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2C530CB8-B732-4D2A-A4A2-B376D4D1AB27}" type="datetime1">
              <a:rPr lang="en-IN" smtClean="0"/>
              <a:t>06-11-2025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1352EEA-DDFF-4F4D-80E8-595774DE0C51}" type="slidenum">
              <a:rPr lang="en-IN" smtClean="0"/>
              <a:pPr/>
              <a:t>‹#›</a:t>
            </a:fld>
            <a:endParaRPr lang="en-IN"/>
          </a:p>
        </p:txBody>
      </p:sp>
      <p:sp>
        <p:nvSpPr>
          <p:cNvPr id="11" name="Content Placeholder 10"/>
          <p:cNvSpPr>
            <a:spLocks noGrp="1"/>
          </p:cNvSpPr>
          <p:nvPr>
            <p:ph sz="half" idx="2"/>
          </p:nvPr>
        </p:nvSpPr>
        <p:spPr>
          <a:xfrm>
            <a:off x="12192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66040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AB5ACAEE-B94B-4647-9563-57BAC055439A}" type="datetime1">
              <a:rPr lang="en-IN" smtClean="0"/>
              <a:t>06-11-2025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1352EEA-DDFF-4F4D-80E8-595774DE0C51}"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5D5A41-E7D7-44DF-BF5C-40FB13E1B98B}" type="datetime1">
              <a:rPr lang="en-IN" smtClean="0"/>
              <a:t>06-11-2025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1352EEA-DDFF-4F4D-80E8-595774DE0C51}"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219200" y="273050"/>
            <a:ext cx="103632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1219200" y="1600200"/>
            <a:ext cx="2540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27F6683D-BC37-4F76-8850-BE7EAD893380}" type="datetime1">
              <a:rPr lang="en-IN" smtClean="0"/>
              <a:t>06-11-2025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1352EEA-DDFF-4F4D-80E8-595774DE0C51}" type="slidenum">
              <a:rPr lang="en-IN" smtClean="0"/>
              <a:pPr/>
              <a:t>‹#›</a:t>
            </a:fld>
            <a:endParaRPr lang="en-IN"/>
          </a:p>
        </p:txBody>
      </p:sp>
      <p:sp>
        <p:nvSpPr>
          <p:cNvPr id="11" name="Content Placeholder 10"/>
          <p:cNvSpPr>
            <a:spLocks noGrp="1"/>
          </p:cNvSpPr>
          <p:nvPr>
            <p:ph sz="quarter" idx="1"/>
          </p:nvPr>
        </p:nvSpPr>
        <p:spPr>
          <a:xfrm>
            <a:off x="3962400" y="1600200"/>
            <a:ext cx="7620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9200" y="4900550"/>
            <a:ext cx="97536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1219200" y="5445825"/>
            <a:ext cx="97536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CBAA69BB-A71D-4454-BF92-528CF3D92D07}" type="datetime1">
              <a:rPr lang="en-IN" smtClean="0"/>
              <a:t>06-11-2025</a:t>
            </a:fld>
            <a:endParaRPr lang="en-IN"/>
          </a:p>
        </p:txBody>
      </p:sp>
      <p:sp>
        <p:nvSpPr>
          <p:cNvPr id="6" name="Footer Placeholder 5"/>
          <p:cNvSpPr>
            <a:spLocks noGrp="1"/>
          </p:cNvSpPr>
          <p:nvPr>
            <p:ph type="ftr" sz="quarter" idx="11"/>
          </p:nvPr>
        </p:nvSpPr>
        <p:spPr>
          <a:xfrm>
            <a:off x="1219200" y="6172200"/>
            <a:ext cx="5181600" cy="457200"/>
          </a:xfrm>
        </p:spPr>
        <p:txBody>
          <a:bodyPr/>
          <a:lstStyle/>
          <a:p>
            <a:endParaRPr lang="en-IN"/>
          </a:p>
        </p:txBody>
      </p:sp>
      <p:sp>
        <p:nvSpPr>
          <p:cNvPr id="7" name="Slide Number Placeholder 6"/>
          <p:cNvSpPr>
            <a:spLocks noGrp="1"/>
          </p:cNvSpPr>
          <p:nvPr>
            <p:ph type="sldNum" sz="quarter" idx="12"/>
          </p:nvPr>
        </p:nvSpPr>
        <p:spPr>
          <a:xfrm>
            <a:off x="195072" y="6208776"/>
            <a:ext cx="609600" cy="457200"/>
          </a:xfrm>
        </p:spPr>
        <p:txBody>
          <a:bodyPr/>
          <a:lstStyle/>
          <a:p>
            <a:fld id="{71352EEA-DDFF-4F4D-80E8-595774DE0C51}" type="slidenum">
              <a:rPr lang="en-IN" smtClean="0"/>
              <a:pPr/>
              <a:t>‹#›</a:t>
            </a:fld>
            <a:endParaRPr lang="en-IN"/>
          </a:p>
        </p:txBody>
      </p:sp>
      <p:sp>
        <p:nvSpPr>
          <p:cNvPr id="11" name="Rectangle 10"/>
          <p:cNvSpPr/>
          <p:nvPr/>
        </p:nvSpPr>
        <p:spPr>
          <a:xfrm flipV="1">
            <a:off x="91076" y="4683555"/>
            <a:ext cx="120091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91345" y="4650475"/>
            <a:ext cx="12008852"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91348" y="4773225"/>
            <a:ext cx="12008849"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91078" y="66676"/>
            <a:ext cx="12002497"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535B151-45D9-4F61-BA49-CF5E1C71FAA7}" type="datetime1">
              <a:rPr lang="en-IN" smtClean="0"/>
              <a:t>06-11-2025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1352EEA-DDFF-4F4D-80E8-595774DE0C51}"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2"/>
            <a:ext cx="268224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219200" y="274641"/>
            <a:ext cx="7416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1F82E0F-D83C-49FF-B675-B9D3E898AFAC}" type="datetime1">
              <a:rPr lang="en-IN" smtClean="0"/>
              <a:t>06-11-2025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1352EEA-DDFF-4F4D-80E8-595774DE0C51}"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1219200" y="274638"/>
            <a:ext cx="103632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1219200" y="1447800"/>
            <a:ext cx="103632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229600" y="6191250"/>
            <a:ext cx="3302000" cy="476250"/>
          </a:xfrm>
          <a:prstGeom prst="rect">
            <a:avLst/>
          </a:prstGeom>
        </p:spPr>
        <p:txBody>
          <a:bodyPr anchor="ctr" anchorCtr="0"/>
          <a:lstStyle>
            <a:lvl1pPr algn="r" eaLnBrk="1" latinLnBrk="0" hangingPunct="1">
              <a:defRPr kumimoji="0" sz="1400">
                <a:solidFill>
                  <a:schemeClr val="tx2"/>
                </a:solidFill>
              </a:defRPr>
            </a:lvl1pPr>
          </a:lstStyle>
          <a:p>
            <a:fld id="{B6E4068B-3C9C-4FCE-B5BC-F5DAC51FA7F5}" type="datetime1">
              <a:rPr lang="en-IN" smtClean="0"/>
              <a:t>06-11-2025</a:t>
            </a:fld>
            <a:endParaRPr lang="en-IN"/>
          </a:p>
        </p:txBody>
      </p:sp>
      <p:sp>
        <p:nvSpPr>
          <p:cNvPr id="3" name="Footer Placeholder 2"/>
          <p:cNvSpPr>
            <a:spLocks noGrp="1"/>
          </p:cNvSpPr>
          <p:nvPr>
            <p:ph type="ftr" sz="quarter" idx="3"/>
          </p:nvPr>
        </p:nvSpPr>
        <p:spPr>
          <a:xfrm>
            <a:off x="1219200" y="6172200"/>
            <a:ext cx="5283200" cy="457200"/>
          </a:xfrm>
          <a:prstGeom prst="rect">
            <a:avLst/>
          </a:prstGeom>
        </p:spPr>
        <p:txBody>
          <a:bodyPr anchor="ctr" anchorCtr="0"/>
          <a:lstStyle>
            <a:lvl1pPr eaLnBrk="1" latinLnBrk="0" hangingPunct="1">
              <a:defRPr kumimoji="0" sz="1400">
                <a:solidFill>
                  <a:schemeClr val="tx2"/>
                </a:solidFill>
              </a:defRPr>
            </a:lvl1pPr>
          </a:lstStyle>
          <a:p>
            <a:endParaRPr lang="en-IN"/>
          </a:p>
        </p:txBody>
      </p:sp>
      <p:sp>
        <p:nvSpPr>
          <p:cNvPr id="23" name="Slide Number Placeholder 22"/>
          <p:cNvSpPr>
            <a:spLocks noGrp="1"/>
          </p:cNvSpPr>
          <p:nvPr>
            <p:ph type="sldNum" sz="quarter" idx="4"/>
          </p:nvPr>
        </p:nvSpPr>
        <p:spPr>
          <a:xfrm>
            <a:off x="195072" y="6210300"/>
            <a:ext cx="6096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71352EEA-DDFF-4F4D-80E8-595774DE0C51}"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D8A2B66-D12A-A9F1-B487-70B9B3F68915}"/>
              </a:ext>
            </a:extLst>
          </p:cNvPr>
          <p:cNvSpPr>
            <a:spLocks noGrp="1"/>
          </p:cNvSpPr>
          <p:nvPr>
            <p:ph type="subTitle" idx="1"/>
          </p:nvPr>
        </p:nvSpPr>
        <p:spPr>
          <a:xfrm>
            <a:off x="1524000" y="3200400"/>
            <a:ext cx="9144000" cy="1655762"/>
          </a:xfrm>
        </p:spPr>
        <p:txBody>
          <a:bodyPr/>
          <a:lstStyle/>
          <a:p>
            <a:r>
              <a:rPr lang="en-IN" dirty="0">
                <a:latin typeface="Times New Roman" panose="02020603050405020304" pitchFamily="18" charset="0"/>
                <a:cs typeface="Times New Roman" panose="02020603050405020304" pitchFamily="18" charset="0"/>
              </a:rPr>
              <a:t>Subtitle: </a:t>
            </a:r>
            <a:r>
              <a:rPr lang="en-US" dirty="0">
                <a:latin typeface="Times New Roman" panose="02020603050405020304" pitchFamily="18" charset="0"/>
                <a:cs typeface="Times New Roman" panose="02020603050405020304" pitchFamily="18" charset="0"/>
              </a:rPr>
              <a:t>FPGA-Based Real-Time Edge Detection Using Custom Sobel Filter IP on PYNQ-Z2.</a:t>
            </a:r>
          </a:p>
          <a:p>
            <a:r>
              <a:rPr lang="en-US" dirty="0">
                <a:latin typeface="Times New Roman" panose="02020603050405020304" pitchFamily="18" charset="0"/>
                <a:cs typeface="Times New Roman" panose="02020603050405020304" pitchFamily="18" charset="0"/>
              </a:rPr>
              <a:t>EEC51806 – PROJECT PHASE 1</a:t>
            </a:r>
          </a:p>
        </p:txBody>
      </p:sp>
      <p:sp>
        <p:nvSpPr>
          <p:cNvPr id="2" name="Title 1">
            <a:extLst>
              <a:ext uri="{FF2B5EF4-FFF2-40B4-BE49-F238E27FC236}">
                <a16:creationId xmlns:a16="http://schemas.microsoft.com/office/drawing/2014/main" id="{0395E35A-BF7C-0D26-656C-19DFDFABF8DD}"/>
              </a:ext>
            </a:extLst>
          </p:cNvPr>
          <p:cNvSpPr>
            <a:spLocks noGrp="1"/>
          </p:cNvSpPr>
          <p:nvPr>
            <p:ph type="ctrTitle"/>
          </p:nvPr>
        </p:nvSpPr>
        <p:spPr>
          <a:xfrm>
            <a:off x="1524000" y="1341819"/>
            <a:ext cx="9144000" cy="1858581"/>
          </a:xfrm>
        </p:spPr>
        <p:txBody>
          <a:bodyPr/>
          <a:lstStyle/>
          <a:p>
            <a:r>
              <a:rPr lang="en-IN" dirty="0">
                <a:latin typeface="Times New Roman" panose="02020603050405020304" pitchFamily="18" charset="0"/>
                <a:cs typeface="Times New Roman" panose="02020603050405020304" pitchFamily="18" charset="0"/>
              </a:rPr>
              <a:t>EDGE DETECTION USING PYNQ-Z2 BOARD</a:t>
            </a:r>
          </a:p>
        </p:txBody>
      </p:sp>
      <p:sp>
        <p:nvSpPr>
          <p:cNvPr id="4" name="TextBox 3">
            <a:extLst>
              <a:ext uri="{FF2B5EF4-FFF2-40B4-BE49-F238E27FC236}">
                <a16:creationId xmlns:a16="http://schemas.microsoft.com/office/drawing/2014/main" id="{E0C28EDF-EFEF-5DDA-1527-099D8AF6375B}"/>
              </a:ext>
            </a:extLst>
          </p:cNvPr>
          <p:cNvSpPr txBox="1"/>
          <p:nvPr/>
        </p:nvSpPr>
        <p:spPr>
          <a:xfrm>
            <a:off x="8631936" y="5285232"/>
            <a:ext cx="3483260" cy="1200329"/>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Presented By:</a:t>
            </a:r>
          </a:p>
          <a:p>
            <a:r>
              <a:rPr lang="en-IN" dirty="0">
                <a:latin typeface="Times New Roman" panose="02020603050405020304" pitchFamily="18" charset="0"/>
                <a:cs typeface="Times New Roman" panose="02020603050405020304" pitchFamily="18" charset="0"/>
              </a:rPr>
              <a:t>P. Vamsi Krishna (22119006)</a:t>
            </a:r>
          </a:p>
          <a:p>
            <a:r>
              <a:rPr lang="en-IN" dirty="0">
                <a:latin typeface="Times New Roman" panose="02020603050405020304" pitchFamily="18" charset="0"/>
                <a:cs typeface="Times New Roman" panose="02020603050405020304" pitchFamily="18" charset="0"/>
              </a:rPr>
              <a:t>M. Durga Siva Krishna (22119019)</a:t>
            </a:r>
          </a:p>
          <a:p>
            <a:r>
              <a:rPr lang="en-IN" dirty="0">
                <a:latin typeface="Times New Roman" panose="02020603050405020304" pitchFamily="18" charset="0"/>
                <a:cs typeface="Times New Roman" panose="02020603050405020304" pitchFamily="18" charset="0"/>
              </a:rPr>
              <a:t>U. Bhavani Shankar (22119018)</a:t>
            </a:r>
          </a:p>
        </p:txBody>
      </p:sp>
      <p:sp>
        <p:nvSpPr>
          <p:cNvPr id="5" name="TextBox 4">
            <a:extLst>
              <a:ext uri="{FF2B5EF4-FFF2-40B4-BE49-F238E27FC236}">
                <a16:creationId xmlns:a16="http://schemas.microsoft.com/office/drawing/2014/main" id="{C72D91E7-CC14-2696-8388-1F952EEDDC9E}"/>
              </a:ext>
            </a:extLst>
          </p:cNvPr>
          <p:cNvSpPr txBox="1"/>
          <p:nvPr/>
        </p:nvSpPr>
        <p:spPr>
          <a:xfrm>
            <a:off x="8631936" y="4915900"/>
            <a:ext cx="2657779" cy="369332"/>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Guide: Dr. M. Rajmohan</a:t>
            </a:r>
          </a:p>
        </p:txBody>
      </p:sp>
      <p:pic>
        <p:nvPicPr>
          <p:cNvPr id="2052" name="Picture 4" descr="B.Tech and Engineering courses">
            <a:extLst>
              <a:ext uri="{FF2B5EF4-FFF2-40B4-BE49-F238E27FC236}">
                <a16:creationId xmlns:a16="http://schemas.microsoft.com/office/drawing/2014/main" id="{2C535F79-AC14-EA5A-64D9-A496A05003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3790" y="236919"/>
            <a:ext cx="4152900" cy="1104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8525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BDE4C-0A07-6BF8-53E6-EC855EAB93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BFB483-575E-F485-8E7A-C176915ADAC8}"/>
              </a:ext>
            </a:extLst>
          </p:cNvPr>
          <p:cNvSpPr>
            <a:spLocks noGrp="1"/>
          </p:cNvSpPr>
          <p:nvPr>
            <p:ph type="title"/>
          </p:nvPr>
        </p:nvSpPr>
        <p:spPr>
          <a:xfrm>
            <a:off x="527304" y="439025"/>
            <a:ext cx="10515600" cy="1061339"/>
          </a:xfrm>
        </p:spPr>
        <p:txBody>
          <a:bodyPr/>
          <a:lstStyle/>
          <a:p>
            <a:r>
              <a:rPr lang="en-IN" b="1" dirty="0">
                <a:latin typeface="Times New Roman" panose="02020603050405020304" pitchFamily="18" charset="0"/>
                <a:cs typeface="Times New Roman" panose="02020603050405020304" pitchFamily="18" charset="0"/>
              </a:rPr>
              <a:t>ABSTRACT:</a:t>
            </a:r>
          </a:p>
        </p:txBody>
      </p:sp>
      <p:sp>
        <p:nvSpPr>
          <p:cNvPr id="14" name="Rectangle 11">
            <a:extLst>
              <a:ext uri="{FF2B5EF4-FFF2-40B4-BE49-F238E27FC236}">
                <a16:creationId xmlns:a16="http://schemas.microsoft.com/office/drawing/2014/main" id="{529F9F00-CEB2-A030-7321-3754B718CC0D}"/>
              </a:ext>
            </a:extLst>
          </p:cNvPr>
          <p:cNvSpPr>
            <a:spLocks noGrp="1" noChangeArrowheads="1"/>
          </p:cNvSpPr>
          <p:nvPr>
            <p:ph sz="quarter" idx="1"/>
          </p:nvPr>
        </p:nvSpPr>
        <p:spPr bwMode="auto">
          <a:xfrm>
            <a:off x="527304" y="1816364"/>
            <a:ext cx="11137392" cy="34317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dirty="0">
                <a:latin typeface="Times New Roman" panose="02020603050405020304" pitchFamily="18" charset="0"/>
                <a:cs typeface="Times New Roman" panose="02020603050405020304" pitchFamily="18" charset="0"/>
              </a:rPr>
              <a:t>Designed and implemented real-time edge detection on FPGA using the Sobel filter.</a:t>
            </a:r>
          </a:p>
          <a:p>
            <a:r>
              <a:rPr lang="en-US" sz="2400" dirty="0">
                <a:latin typeface="Times New Roman" panose="02020603050405020304" pitchFamily="18" charset="0"/>
                <a:cs typeface="Times New Roman" panose="02020603050405020304" pitchFamily="18" charset="0"/>
              </a:rPr>
              <a:t>Utilized hardware IP cores for efficient horizontal and vertical edge computation.</a:t>
            </a:r>
          </a:p>
          <a:p>
            <a:r>
              <a:rPr lang="en-US" sz="2400" dirty="0">
                <a:latin typeface="Times New Roman" panose="02020603050405020304" pitchFamily="18" charset="0"/>
                <a:cs typeface="Times New Roman" panose="02020603050405020304" pitchFamily="18" charset="0"/>
              </a:rPr>
              <a:t>Live image frames are captured, filtered via DMA, and edges are extracted using gradient magnitude.</a:t>
            </a:r>
          </a:p>
          <a:p>
            <a:r>
              <a:rPr lang="en-US" sz="2400" dirty="0">
                <a:latin typeface="Times New Roman" panose="02020603050405020304" pitchFamily="18" charset="0"/>
                <a:cs typeface="Times New Roman" panose="02020603050405020304" pitchFamily="18" charset="0"/>
              </a:rPr>
              <a:t>Achieved substantial acceleration and low resource usage compared to software-only methods.</a:t>
            </a:r>
          </a:p>
          <a:p>
            <a:r>
              <a:rPr lang="en-US" sz="2400" dirty="0">
                <a:latin typeface="Times New Roman" panose="02020603050405020304" pitchFamily="18" charset="0"/>
                <a:cs typeface="Times New Roman" panose="02020603050405020304" pitchFamily="18" charset="0"/>
              </a:rPr>
              <a:t>Developed with </a:t>
            </a:r>
            <a:r>
              <a:rPr lang="en-US" sz="2400" dirty="0" err="1">
                <a:latin typeface="Times New Roman" panose="02020603050405020304" pitchFamily="18" charset="0"/>
                <a:cs typeface="Times New Roman" panose="02020603050405020304" pitchFamily="18" charset="0"/>
              </a:rPr>
              <a:t>Vivado</a:t>
            </a:r>
            <a:r>
              <a:rPr lang="en-US" sz="2400" dirty="0">
                <a:latin typeface="Times New Roman" panose="02020603050405020304" pitchFamily="18" charset="0"/>
                <a:cs typeface="Times New Roman" panose="02020603050405020304" pitchFamily="18" charset="0"/>
              </a:rPr>
              <a:t> 2018.3 and validated on the PYNQ-Z2 board.</a:t>
            </a:r>
          </a:p>
          <a:p>
            <a:r>
              <a:rPr lang="en-US" sz="2400" dirty="0">
                <a:latin typeface="Times New Roman" panose="02020603050405020304" pitchFamily="18" charset="0"/>
                <a:cs typeface="Times New Roman" panose="02020603050405020304" pitchFamily="18" charset="0"/>
              </a:rPr>
              <a:t>Results show suitability for embedded, scalable, high-performance vision solutions.</a:t>
            </a:r>
          </a:p>
        </p:txBody>
      </p:sp>
    </p:spTree>
    <p:extLst>
      <p:ext uri="{BB962C8B-B14F-4D97-AF65-F5344CB8AC3E}">
        <p14:creationId xmlns:p14="http://schemas.microsoft.com/office/powerpoint/2010/main" val="3774180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B3709-A4BE-A0C9-4C49-9E7F67FC71D1}"/>
              </a:ext>
            </a:extLst>
          </p:cNvPr>
          <p:cNvSpPr>
            <a:spLocks noGrp="1"/>
          </p:cNvSpPr>
          <p:nvPr>
            <p:ph type="title"/>
          </p:nvPr>
        </p:nvSpPr>
        <p:spPr>
          <a:xfrm>
            <a:off x="527304" y="556775"/>
            <a:ext cx="10515600" cy="1061339"/>
          </a:xfrm>
        </p:spPr>
        <p:txBody>
          <a:bodyPr/>
          <a:lstStyle/>
          <a:p>
            <a:r>
              <a:rPr lang="en-IN" b="1" dirty="0">
                <a:latin typeface="Times New Roman" panose="02020603050405020304" pitchFamily="18" charset="0"/>
                <a:cs typeface="Times New Roman" panose="02020603050405020304" pitchFamily="18" charset="0"/>
              </a:rPr>
              <a:t>INTRODUCTION:</a:t>
            </a:r>
          </a:p>
        </p:txBody>
      </p:sp>
      <p:sp>
        <p:nvSpPr>
          <p:cNvPr id="14" name="Rectangle 11">
            <a:extLst>
              <a:ext uri="{FF2B5EF4-FFF2-40B4-BE49-F238E27FC236}">
                <a16:creationId xmlns:a16="http://schemas.microsoft.com/office/drawing/2014/main" id="{3F882C99-F822-84BE-62F7-B8B2917E9FA8}"/>
              </a:ext>
            </a:extLst>
          </p:cNvPr>
          <p:cNvSpPr>
            <a:spLocks noGrp="1" noChangeArrowheads="1"/>
          </p:cNvSpPr>
          <p:nvPr>
            <p:ph sz="quarter" idx="1"/>
          </p:nvPr>
        </p:nvSpPr>
        <p:spPr bwMode="auto">
          <a:xfrm>
            <a:off x="527304" y="923025"/>
            <a:ext cx="11137392" cy="5011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lnSpc>
                <a:spcPct val="150000"/>
              </a:lnSpc>
              <a:spcBef>
                <a:spcPct val="0"/>
              </a:spcBef>
              <a:spcAft>
                <a:spcPct val="0"/>
              </a:spcAft>
              <a:buNone/>
            </a:pPr>
            <a:endParaRPr lang="en-US" altLang="en-US" sz="2400" dirty="0">
              <a:latin typeface="Times New Roman" panose="02020603050405020304" pitchFamily="18" charset="0"/>
              <a:cs typeface="Times New Roman" panose="02020603050405020304" pitchFamily="18" charset="0"/>
            </a:endParaRPr>
          </a:p>
          <a:p>
            <a:pPr marL="0" lvl="0" indent="0" algn="just"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The project focuses on </a:t>
            </a:r>
            <a:r>
              <a:rPr lang="en-US" altLang="en-US" sz="2400" b="1" dirty="0">
                <a:latin typeface="Times New Roman" panose="02020603050405020304" pitchFamily="18" charset="0"/>
                <a:cs typeface="Times New Roman" panose="02020603050405020304" pitchFamily="18" charset="0"/>
              </a:rPr>
              <a:t>real-time edge detection </a:t>
            </a:r>
            <a:r>
              <a:rPr lang="en-US" altLang="en-US" sz="2400" dirty="0">
                <a:latin typeface="Times New Roman" panose="02020603050405020304" pitchFamily="18" charset="0"/>
                <a:cs typeface="Times New Roman" panose="02020603050405020304" pitchFamily="18" charset="0"/>
              </a:rPr>
              <a:t>using the </a:t>
            </a:r>
            <a:r>
              <a:rPr lang="en-US" altLang="en-US" sz="2400" b="1" dirty="0">
                <a:latin typeface="Times New Roman" panose="02020603050405020304" pitchFamily="18" charset="0"/>
                <a:cs typeface="Times New Roman" panose="02020603050405020304" pitchFamily="18" charset="0"/>
              </a:rPr>
              <a:t>Sobel filter</a:t>
            </a:r>
            <a:r>
              <a:rPr lang="en-US" altLang="en-US" sz="2400" dirty="0">
                <a:latin typeface="Times New Roman" panose="02020603050405020304" pitchFamily="18" charset="0"/>
                <a:cs typeface="Times New Roman" panose="02020603050405020304" pitchFamily="18" charset="0"/>
              </a:rPr>
              <a:t>.</a:t>
            </a:r>
          </a:p>
          <a:p>
            <a:pPr marL="0" lvl="0" indent="0" algn="just" eaLnBrk="0" fontAlgn="base" hangingPunct="0">
              <a:lnSpc>
                <a:spcPct val="150000"/>
              </a:lnSpc>
              <a:spcBef>
                <a:spcPct val="0"/>
              </a:spcBef>
              <a:spcAft>
                <a:spcPct val="0"/>
              </a:spcAft>
              <a:buFontTx/>
              <a:buChar char="•"/>
            </a:pPr>
            <a:r>
              <a:rPr lang="en-US" altLang="en-US" sz="2400" b="1" dirty="0">
                <a:latin typeface="Times New Roman" panose="02020603050405020304" pitchFamily="18" charset="0"/>
                <a:cs typeface="Times New Roman" panose="02020603050405020304" pitchFamily="18" charset="0"/>
              </a:rPr>
              <a:t>Edge detection </a:t>
            </a:r>
            <a:r>
              <a:rPr lang="en-US" altLang="en-US" sz="2400" dirty="0">
                <a:latin typeface="Times New Roman" panose="02020603050405020304" pitchFamily="18" charset="0"/>
                <a:cs typeface="Times New Roman" panose="02020603050405020304" pitchFamily="18" charset="0"/>
              </a:rPr>
              <a:t>highlights boundaries in images where there is a sharp change in intensity, helping to identify shapes and features.</a:t>
            </a:r>
          </a:p>
          <a:p>
            <a:pPr marL="0" lvl="0" indent="0" algn="just"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A </a:t>
            </a:r>
            <a:r>
              <a:rPr lang="en-US" altLang="en-US" sz="2400" b="1" dirty="0">
                <a:latin typeface="Times New Roman" panose="02020603050405020304" pitchFamily="18" charset="0"/>
                <a:cs typeface="Times New Roman" panose="02020603050405020304" pitchFamily="18" charset="0"/>
              </a:rPr>
              <a:t>Pynq-Z2 FPGA board</a:t>
            </a:r>
            <a:r>
              <a:rPr lang="en-US" altLang="en-US" sz="2400" dirty="0">
                <a:latin typeface="Times New Roman" panose="02020603050405020304" pitchFamily="18" charset="0"/>
                <a:cs typeface="Times New Roman" panose="02020603050405020304" pitchFamily="18" charset="0"/>
              </a:rPr>
              <a:t> is used to accelerate computation by implementing </a:t>
            </a:r>
            <a:r>
              <a:rPr lang="en-US" altLang="en-US" sz="2400" b="1" dirty="0">
                <a:latin typeface="Times New Roman" panose="02020603050405020304" pitchFamily="18" charset="0"/>
                <a:cs typeface="Times New Roman" panose="02020603050405020304" pitchFamily="18" charset="0"/>
              </a:rPr>
              <a:t>Sobel X </a:t>
            </a:r>
            <a:r>
              <a:rPr lang="en-US" altLang="en-US" sz="2400" dirty="0">
                <a:latin typeface="Times New Roman" panose="02020603050405020304" pitchFamily="18" charset="0"/>
                <a:cs typeface="Times New Roman" panose="02020603050405020304" pitchFamily="18" charset="0"/>
              </a:rPr>
              <a:t>and </a:t>
            </a:r>
            <a:r>
              <a:rPr lang="en-US" altLang="en-US" sz="2400" b="1" dirty="0">
                <a:latin typeface="Times New Roman" panose="02020603050405020304" pitchFamily="18" charset="0"/>
                <a:cs typeface="Times New Roman" panose="02020603050405020304" pitchFamily="18" charset="0"/>
              </a:rPr>
              <a:t>Sobel Y filters </a:t>
            </a:r>
            <a:r>
              <a:rPr lang="en-US" altLang="en-US" sz="2400" dirty="0">
                <a:latin typeface="Times New Roman" panose="02020603050405020304" pitchFamily="18" charset="0"/>
                <a:cs typeface="Times New Roman" panose="02020603050405020304" pitchFamily="18" charset="0"/>
              </a:rPr>
              <a:t>in hardware.</a:t>
            </a:r>
          </a:p>
          <a:p>
            <a:pPr marL="0" lvl="0" indent="0" algn="just"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The hardware design provides significant </a:t>
            </a:r>
            <a:r>
              <a:rPr lang="en-US" altLang="en-US" sz="2400" b="1" dirty="0">
                <a:latin typeface="Times New Roman" panose="02020603050405020304" pitchFamily="18" charset="0"/>
                <a:cs typeface="Times New Roman" panose="02020603050405020304" pitchFamily="18" charset="0"/>
              </a:rPr>
              <a:t>speedup </a:t>
            </a:r>
            <a:r>
              <a:rPr lang="en-US" altLang="en-US" sz="2400" dirty="0">
                <a:latin typeface="Times New Roman" panose="02020603050405020304" pitchFamily="18" charset="0"/>
                <a:cs typeface="Times New Roman" panose="02020603050405020304" pitchFamily="18" charset="0"/>
              </a:rPr>
              <a:t>compared to software processing, enabling efficient image processing for real-world applications such as </a:t>
            </a:r>
            <a:r>
              <a:rPr lang="en-US" altLang="en-US" sz="2400" b="1" dirty="0">
                <a:latin typeface="Times New Roman" panose="02020603050405020304" pitchFamily="18" charset="0"/>
                <a:cs typeface="Times New Roman" panose="02020603050405020304" pitchFamily="18" charset="0"/>
              </a:rPr>
              <a:t>forensics, medical imaging, robotics, and autonomous systems.</a:t>
            </a: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9070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5F6B4-1701-43B7-4EAF-8A8971DACDAE}"/>
              </a:ext>
            </a:extLst>
          </p:cNvPr>
          <p:cNvSpPr>
            <a:spLocks noGrp="1"/>
          </p:cNvSpPr>
          <p:nvPr>
            <p:ph type="title"/>
          </p:nvPr>
        </p:nvSpPr>
        <p:spPr>
          <a:xfrm>
            <a:off x="914400" y="-278130"/>
            <a:ext cx="10363200" cy="1143000"/>
          </a:xfrm>
        </p:spPr>
        <p:txBody>
          <a:bodyPr>
            <a:normAutofit/>
          </a:bodyPr>
          <a:lstStyle/>
          <a:p>
            <a:r>
              <a:rPr lang="en-US" sz="3200" b="1" dirty="0">
                <a:latin typeface="Times New Roman" panose="02020603050405020304" pitchFamily="18" charset="0"/>
                <a:cs typeface="Times New Roman" panose="02020603050405020304" pitchFamily="18" charset="0"/>
              </a:rPr>
              <a:t>LITERATURE REVIEW</a:t>
            </a:r>
            <a:endParaRPr lang="en-IN" sz="3200" b="1"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831BEB2C-453A-3F14-5C47-02A245E71777}"/>
              </a:ext>
            </a:extLst>
          </p:cNvPr>
          <p:cNvGraphicFramePr>
            <a:graphicFrameLocks noGrp="1"/>
          </p:cNvGraphicFramePr>
          <p:nvPr>
            <p:ph sz="quarter" idx="1"/>
            <p:extLst>
              <p:ext uri="{D42A27DB-BD31-4B8C-83A1-F6EECF244321}">
                <p14:modId xmlns:p14="http://schemas.microsoft.com/office/powerpoint/2010/main" val="313515531"/>
              </p:ext>
            </p:extLst>
          </p:nvPr>
        </p:nvGraphicFramePr>
        <p:xfrm>
          <a:off x="914400" y="1148334"/>
          <a:ext cx="10363200" cy="5128260"/>
        </p:xfrm>
        <a:graphic>
          <a:graphicData uri="http://schemas.openxmlformats.org/drawingml/2006/table">
            <a:tbl>
              <a:tblPr firstRow="1" bandRow="1">
                <a:tableStyleId>{5C22544A-7EE6-4342-B048-85BDC9FD1C3A}</a:tableStyleId>
              </a:tblPr>
              <a:tblGrid>
                <a:gridCol w="3454400">
                  <a:extLst>
                    <a:ext uri="{9D8B030D-6E8A-4147-A177-3AD203B41FA5}">
                      <a16:colId xmlns:a16="http://schemas.microsoft.com/office/drawing/2014/main" val="908783975"/>
                    </a:ext>
                  </a:extLst>
                </a:gridCol>
                <a:gridCol w="3454400">
                  <a:extLst>
                    <a:ext uri="{9D8B030D-6E8A-4147-A177-3AD203B41FA5}">
                      <a16:colId xmlns:a16="http://schemas.microsoft.com/office/drawing/2014/main" val="2337538028"/>
                    </a:ext>
                  </a:extLst>
                </a:gridCol>
                <a:gridCol w="3454400">
                  <a:extLst>
                    <a:ext uri="{9D8B030D-6E8A-4147-A177-3AD203B41FA5}">
                      <a16:colId xmlns:a16="http://schemas.microsoft.com/office/drawing/2014/main" val="1408404927"/>
                    </a:ext>
                  </a:extLst>
                </a:gridCol>
              </a:tblGrid>
              <a:tr h="556260">
                <a:tc>
                  <a:txBody>
                    <a:bodyPr/>
                    <a:lstStyle/>
                    <a:p>
                      <a:pPr algn="just"/>
                      <a:r>
                        <a:rPr lang="en-IN" dirty="0"/>
                        <a:t>Title / Publication</a:t>
                      </a:r>
                    </a:p>
                  </a:txBody>
                  <a:tcPr/>
                </a:tc>
                <a:tc>
                  <a:txBody>
                    <a:bodyPr/>
                    <a:lstStyle/>
                    <a:p>
                      <a:pPr algn="just"/>
                      <a:r>
                        <a:rPr lang="en-IN" dirty="0"/>
                        <a:t>Merits / Advantages </a:t>
                      </a:r>
                    </a:p>
                  </a:txBody>
                  <a:tcPr/>
                </a:tc>
                <a:tc>
                  <a:txBody>
                    <a:bodyPr/>
                    <a:lstStyle/>
                    <a:p>
                      <a:pPr algn="just"/>
                      <a:r>
                        <a:rPr lang="en-IN" dirty="0"/>
                        <a:t>Implication For My Project</a:t>
                      </a:r>
                    </a:p>
                  </a:txBody>
                  <a:tcPr/>
                </a:tc>
                <a:extLst>
                  <a:ext uri="{0D108BD9-81ED-4DB2-BD59-A6C34878D82A}">
                    <a16:rowId xmlns:a16="http://schemas.microsoft.com/office/drawing/2014/main" val="179799293"/>
                  </a:ext>
                </a:extLst>
              </a:tr>
              <a:tr h="1325499">
                <a:tc>
                  <a:txBody>
                    <a:bodyPr/>
                    <a:lstStyle/>
                    <a:p>
                      <a:pPr algn="just"/>
                      <a:r>
                        <a:rPr lang="en-US" dirty="0"/>
                        <a:t>Sobel Edge Detection Using FPGA – International Journal of Advanced Information Science and Technology. Published: (IJAIST), Vol. 2, No. 11, Nov 2013.</a:t>
                      </a:r>
                      <a:endParaRPr lang="en-IN" dirty="0"/>
                    </a:p>
                  </a:txBody>
                  <a:tcPr/>
                </a:tc>
                <a:tc>
                  <a:txBody>
                    <a:bodyPr/>
                    <a:lstStyle/>
                    <a:p>
                      <a:pPr marL="285750" indent="-285750" algn="just">
                        <a:buFont typeface="Arial" panose="020B0604020202020204" pitchFamily="34" charset="0"/>
                        <a:buChar char="•"/>
                      </a:pPr>
                      <a:r>
                        <a:rPr lang="en-US" dirty="0"/>
                        <a:t>FPGA implementation provides high speed and low power edge detection compared to software execution.</a:t>
                      </a:r>
                    </a:p>
                    <a:p>
                      <a:pPr marL="285750" indent="-285750" algn="just">
                        <a:buFont typeface="Arial" panose="020B0604020202020204" pitchFamily="34" charset="0"/>
                        <a:buChar char="•"/>
                      </a:pPr>
                      <a:r>
                        <a:rPr lang="en-US" dirty="0"/>
                        <a:t>Binary image conversion reduces complexity since no square root calculation is required.</a:t>
                      </a:r>
                    </a:p>
                  </a:txBody>
                  <a:tcPr/>
                </a:tc>
                <a:tc>
                  <a:txBody>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Enables real-time image processing for applications like surveillance, robotics, or medical imaging.</a:t>
                      </a:r>
                      <a:endParaRPr lang="en-IN" dirty="0"/>
                    </a:p>
                    <a:p>
                      <a:pPr marL="285750" indent="-285750" algn="just">
                        <a:buFont typeface="Arial" panose="020B0604020202020204" pitchFamily="34" charset="0"/>
                        <a:buChar char="•"/>
                      </a:pPr>
                      <a:r>
                        <a:rPr lang="en-US" dirty="0"/>
                        <a:t>Simplifies hardware design, but may cause loss of edge details in some images.</a:t>
                      </a:r>
                      <a:endParaRPr lang="en-IN" dirty="0"/>
                    </a:p>
                  </a:txBody>
                  <a:tcPr/>
                </a:tc>
                <a:extLst>
                  <a:ext uri="{0D108BD9-81ED-4DB2-BD59-A6C34878D82A}">
                    <a16:rowId xmlns:a16="http://schemas.microsoft.com/office/drawing/2014/main" val="626157185"/>
                  </a:ext>
                </a:extLst>
              </a:tr>
              <a:tr h="1325499">
                <a:tc>
                  <a:txBody>
                    <a:bodyPr/>
                    <a:lstStyle/>
                    <a:p>
                      <a:pPr algn="just"/>
                      <a:r>
                        <a:rPr lang="en-US" dirty="0"/>
                        <a:t>Efficient Edge Detection on Low-Cost FPGAs. Jamie Schiel &amp; Dr. Andrew Bainbridge-Smith. Department of Mechatronic Engineering &amp; Department of Electrical and Computer Engineering. University of Canterbury, New Zealand.</a:t>
                      </a:r>
                    </a:p>
                    <a:p>
                      <a:pPr algn="just"/>
                      <a:r>
                        <a:rPr lang="en-US" dirty="0"/>
                        <a:t> Published: 2015	</a:t>
                      </a:r>
                      <a:endParaRPr lang="en-IN" dirty="0"/>
                    </a:p>
                  </a:txBody>
                  <a:tcPr/>
                </a:tc>
                <a:tc>
                  <a:txBody>
                    <a:bodyPr/>
                    <a:lstStyle/>
                    <a:p>
                      <a:pPr marL="285750" indent="-285750" algn="just">
                        <a:buFont typeface="Arial" panose="020B0604020202020204" pitchFamily="34" charset="0"/>
                        <a:buChar char="•"/>
                      </a:pPr>
                      <a:r>
                        <a:rPr lang="en-US" dirty="0"/>
                        <a:t>Proposed a new FPGA-based edge detection architecture optimized for low-cost devices.</a:t>
                      </a:r>
                    </a:p>
                    <a:p>
                      <a:pPr marL="285750" indent="-285750" algn="just">
                        <a:buFont typeface="Arial" panose="020B0604020202020204" pitchFamily="34" charset="0"/>
                        <a:buChar char="•"/>
                      </a:pPr>
                      <a:r>
                        <a:rPr lang="en-US" dirty="0"/>
                        <a:t>Achieved 28% increase in speed compared to previous designs.</a:t>
                      </a:r>
                    </a:p>
                    <a:p>
                      <a:pPr marL="285750" indent="-285750" algn="just">
                        <a:buFont typeface="Arial" panose="020B0604020202020204" pitchFamily="34" charset="0"/>
                        <a:buChar char="•"/>
                      </a:pPr>
                      <a:r>
                        <a:rPr lang="en-US" dirty="0"/>
                        <a:t>Reduced area usage by 4.4%, lowering cost and power. Utilized Sobel kernels (separable, no multiplications required).</a:t>
                      </a:r>
                      <a:endParaRPr lang="en-IN" dirty="0"/>
                    </a:p>
                  </a:txBody>
                  <a:tcPr/>
                </a:tc>
                <a:tc>
                  <a:txBody>
                    <a:bodyPr/>
                    <a:lstStyle/>
                    <a:p>
                      <a:pPr marL="285750" indent="-285750" algn="just">
                        <a:buFont typeface="Arial" panose="020B0604020202020204" pitchFamily="34" charset="0"/>
                        <a:buChar char="•"/>
                      </a:pPr>
                      <a:r>
                        <a:rPr lang="en-US" dirty="0"/>
                        <a:t>Demonstrates that low-cost FPGAs can handle real-time edge detection for UAVs and embedded systems. </a:t>
                      </a:r>
                    </a:p>
                    <a:p>
                      <a:pPr marL="342900" indent="-342900" algn="just">
                        <a:buFont typeface="Arial" panose="020B0604020202020204" pitchFamily="34" charset="0"/>
                        <a:buChar char="•"/>
                      </a:pPr>
                      <a:r>
                        <a:rPr lang="en-US" dirty="0"/>
                        <a:t>Provides a scalable method suitable for other FPGA families (e.g., Xilinx).</a:t>
                      </a:r>
                      <a:endParaRPr lang="en-IN" dirty="0"/>
                    </a:p>
                  </a:txBody>
                  <a:tcPr/>
                </a:tc>
                <a:extLst>
                  <a:ext uri="{0D108BD9-81ED-4DB2-BD59-A6C34878D82A}">
                    <a16:rowId xmlns:a16="http://schemas.microsoft.com/office/drawing/2014/main" val="3093481542"/>
                  </a:ext>
                </a:extLst>
              </a:tr>
            </a:tbl>
          </a:graphicData>
        </a:graphic>
      </p:graphicFrame>
    </p:spTree>
    <p:extLst>
      <p:ext uri="{BB962C8B-B14F-4D97-AF65-F5344CB8AC3E}">
        <p14:creationId xmlns:p14="http://schemas.microsoft.com/office/powerpoint/2010/main" val="16145888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a:extLst>
              <a:ext uri="{FF2B5EF4-FFF2-40B4-BE49-F238E27FC236}">
                <a16:creationId xmlns:a16="http://schemas.microsoft.com/office/drawing/2014/main" id="{64AD0D7C-E354-4350-53BD-347621ED90E4}"/>
              </a:ext>
            </a:extLst>
          </p:cNvPr>
          <p:cNvGraphicFramePr>
            <a:graphicFrameLocks noGrp="1"/>
          </p:cNvGraphicFramePr>
          <p:nvPr>
            <p:ph sz="quarter" idx="1"/>
            <p:extLst>
              <p:ext uri="{D42A27DB-BD31-4B8C-83A1-F6EECF244321}">
                <p14:modId xmlns:p14="http://schemas.microsoft.com/office/powerpoint/2010/main" val="3375532910"/>
              </p:ext>
            </p:extLst>
          </p:nvPr>
        </p:nvGraphicFramePr>
        <p:xfrm>
          <a:off x="914400" y="764426"/>
          <a:ext cx="10363200" cy="5329148"/>
        </p:xfrm>
        <a:graphic>
          <a:graphicData uri="http://schemas.openxmlformats.org/drawingml/2006/table">
            <a:tbl>
              <a:tblPr firstRow="1" bandRow="1">
                <a:tableStyleId>{5C22544A-7EE6-4342-B048-85BDC9FD1C3A}</a:tableStyleId>
              </a:tblPr>
              <a:tblGrid>
                <a:gridCol w="3454400">
                  <a:extLst>
                    <a:ext uri="{9D8B030D-6E8A-4147-A177-3AD203B41FA5}">
                      <a16:colId xmlns:a16="http://schemas.microsoft.com/office/drawing/2014/main" val="95182981"/>
                    </a:ext>
                  </a:extLst>
                </a:gridCol>
                <a:gridCol w="3454400">
                  <a:extLst>
                    <a:ext uri="{9D8B030D-6E8A-4147-A177-3AD203B41FA5}">
                      <a16:colId xmlns:a16="http://schemas.microsoft.com/office/drawing/2014/main" val="1838532865"/>
                    </a:ext>
                  </a:extLst>
                </a:gridCol>
                <a:gridCol w="3454400">
                  <a:extLst>
                    <a:ext uri="{9D8B030D-6E8A-4147-A177-3AD203B41FA5}">
                      <a16:colId xmlns:a16="http://schemas.microsoft.com/office/drawing/2014/main" val="4151249346"/>
                    </a:ext>
                  </a:extLst>
                </a:gridCol>
              </a:tblGrid>
              <a:tr h="757148">
                <a:tc>
                  <a:txBody>
                    <a:bodyPr/>
                    <a:lstStyle/>
                    <a:p>
                      <a:pPr algn="l"/>
                      <a:r>
                        <a:rPr lang="en-IN" dirty="0"/>
                        <a:t>Title / Publication</a:t>
                      </a:r>
                    </a:p>
                  </a:txBody>
                  <a:tcPr/>
                </a:tc>
                <a:tc>
                  <a:txBody>
                    <a:bodyPr/>
                    <a:lstStyle/>
                    <a:p>
                      <a:pPr algn="l"/>
                      <a:r>
                        <a:rPr lang="en-IN" dirty="0"/>
                        <a:t>Merits / Advantages </a:t>
                      </a:r>
                    </a:p>
                  </a:txBody>
                  <a:tcPr/>
                </a:tc>
                <a:tc>
                  <a:txBody>
                    <a:bodyPr/>
                    <a:lstStyle/>
                    <a:p>
                      <a:pPr algn="l"/>
                      <a:r>
                        <a:rPr lang="en-IN" dirty="0"/>
                        <a:t>Implication For My Project</a:t>
                      </a:r>
                    </a:p>
                  </a:txBody>
                  <a:tcPr/>
                </a:tc>
                <a:extLst>
                  <a:ext uri="{0D108BD9-81ED-4DB2-BD59-A6C34878D82A}">
                    <a16:rowId xmlns:a16="http://schemas.microsoft.com/office/drawing/2014/main" val="3685334095"/>
                  </a:ext>
                </a:extLst>
              </a:tr>
              <a:tr h="1819034">
                <a:tc>
                  <a:txBody>
                    <a:bodyPr/>
                    <a:lstStyle/>
                    <a:p>
                      <a:pPr algn="l"/>
                      <a:r>
                        <a:rPr lang="en-US" dirty="0"/>
                        <a:t>FPGA Implementation for Real Time Sobel Edge Detector Block Using 3-Line Buffers.</a:t>
                      </a:r>
                    </a:p>
                    <a:p>
                      <a:pPr algn="l"/>
                      <a:r>
                        <a:rPr lang="en-IN" dirty="0"/>
                        <a:t>Proceedings of 25th The IIER International Conference, Kuala Lumpur, Malaysia, 2nd May 2015, Authors: Ronnie O. </a:t>
                      </a:r>
                      <a:r>
                        <a:rPr lang="en-IN" dirty="0" err="1"/>
                        <a:t>Serfa</a:t>
                      </a:r>
                      <a:r>
                        <a:rPr lang="en-IN" dirty="0"/>
                        <a:t> Juan, Chan Su Park, Hi Seok Kim, Hyeong Woo Cha</a:t>
                      </a:r>
                    </a:p>
                  </a:txBody>
                  <a:tcPr/>
                </a:tc>
                <a:tc>
                  <a:txBody>
                    <a:bodyPr/>
                    <a:lstStyle/>
                    <a:p>
                      <a:pPr marL="285750" indent="-285750" algn="l">
                        <a:buFont typeface="Arial" panose="020B0604020202020204" pitchFamily="34" charset="0"/>
                        <a:buChar char="•"/>
                      </a:pPr>
                      <a:r>
                        <a:rPr lang="en-US" dirty="0"/>
                        <a:t>Efficient real-time edge detection using Sobel operator on FPGA.</a:t>
                      </a:r>
                    </a:p>
                    <a:p>
                      <a:pPr marL="285750" indent="-285750" algn="l">
                        <a:buFont typeface="Arial" panose="020B0604020202020204" pitchFamily="34" charset="0"/>
                        <a:buChar char="•"/>
                      </a:pPr>
                      <a:r>
                        <a:rPr lang="en-US" dirty="0"/>
                        <a:t>Pipelined method increases speed. Reduces memory usage via 3-line buffer. Achieved high max frequency (238.687 MHz).</a:t>
                      </a:r>
                      <a:endParaRPr lang="en-IN" dirty="0"/>
                    </a:p>
                  </a:txBody>
                  <a:tcPr/>
                </a:tc>
                <a:tc>
                  <a:txBody>
                    <a:bodyPr/>
                    <a:lstStyle/>
                    <a:p>
                      <a:pPr marL="285750" indent="-285750" algn="l">
                        <a:buFont typeface="Arial" panose="020B0604020202020204" pitchFamily="34" charset="0"/>
                        <a:buChar char="•"/>
                      </a:pPr>
                      <a:r>
                        <a:rPr lang="en-IN" dirty="0"/>
                        <a:t>Provides baseline for implementing Sobel edge detection on FPGA PYNQ board.</a:t>
                      </a:r>
                    </a:p>
                    <a:p>
                      <a:pPr marL="285750" indent="-285750" algn="l">
                        <a:buFont typeface="Arial" panose="020B0604020202020204" pitchFamily="34" charset="0"/>
                        <a:buChar char="•"/>
                      </a:pPr>
                      <a:r>
                        <a:rPr lang="en-IN" dirty="0"/>
                        <a:t>Shows importance of buffer optimization (can adapt 3-line buffer idea for memory efficiency).</a:t>
                      </a:r>
                    </a:p>
                    <a:p>
                      <a:pPr marL="285750" indent="-285750" algn="l">
                        <a:buFont typeface="Arial" panose="020B0604020202020204" pitchFamily="34" charset="0"/>
                        <a:buChar char="•"/>
                      </a:pPr>
                      <a:r>
                        <a:rPr lang="en-IN" dirty="0"/>
                        <a:t> Highlights FPGA’s suitability for high-speed image processing tasks.</a:t>
                      </a:r>
                    </a:p>
                  </a:txBody>
                  <a:tcPr/>
                </a:tc>
                <a:extLst>
                  <a:ext uri="{0D108BD9-81ED-4DB2-BD59-A6C34878D82A}">
                    <a16:rowId xmlns:a16="http://schemas.microsoft.com/office/drawing/2014/main" val="4049823764"/>
                  </a:ext>
                </a:extLst>
              </a:tr>
              <a:tr h="1819034">
                <a:tc>
                  <a:txBody>
                    <a:bodyPr/>
                    <a:lstStyle/>
                    <a:p>
                      <a:pPr algn="l"/>
                      <a:r>
                        <a:rPr lang="en-US" sz="1800" dirty="0"/>
                        <a:t>FPGA-based Low-power Sobel Edge Detection System</a:t>
                      </a:r>
                      <a:r>
                        <a:rPr lang="en-US" dirty="0"/>
                        <a:t>. IRJMETS, Vol.05, Issue 04, April 2023.</a:t>
                      </a:r>
                      <a:endParaRPr lang="en-IN" dirty="0"/>
                    </a:p>
                  </a:txBody>
                  <a:tcPr/>
                </a:tc>
                <a:tc>
                  <a:txBody>
                    <a:bodyPr/>
                    <a:lstStyle/>
                    <a:p>
                      <a:pPr marL="285750" indent="-285750" algn="l">
                        <a:buFont typeface="Arial" panose="020B0604020202020204" pitchFamily="34" charset="0"/>
                        <a:buChar char="•"/>
                      </a:pPr>
                      <a:r>
                        <a:rPr lang="en-US" dirty="0"/>
                        <a:t>Achieves high accuracy in edge detection. Provides real-time performance suitable for robotics, surveillance, and autonomous vehicles.</a:t>
                      </a:r>
                    </a:p>
                    <a:p>
                      <a:pPr marL="285750" indent="-285750" algn="l">
                        <a:buFont typeface="Arial" panose="020B0604020202020204" pitchFamily="34" charset="0"/>
                        <a:buChar char="•"/>
                      </a:pPr>
                      <a:r>
                        <a:rPr lang="en-US" dirty="0"/>
                        <a:t> Uses Sobel + Canny combination.</a:t>
                      </a:r>
                      <a:endParaRPr lang="en-IN" dirty="0"/>
                    </a:p>
                  </a:txBody>
                  <a:tcPr/>
                </a:tc>
                <a:tc>
                  <a:txBody>
                    <a:bodyPr/>
                    <a:lstStyle/>
                    <a:p>
                      <a:pPr marL="285750" indent="-285750" algn="l">
                        <a:buFont typeface="Arial" panose="020B0604020202020204" pitchFamily="34" charset="0"/>
                        <a:buChar char="•"/>
                      </a:pPr>
                      <a:r>
                        <a:rPr lang="en-US" dirty="0"/>
                        <a:t>Supports my project goal of real-time edge detection on FPGA PYNQ board. low-power design, Portable systems.  </a:t>
                      </a:r>
                    </a:p>
                    <a:p>
                      <a:pPr marL="285750" indent="-285750" algn="l">
                        <a:buFont typeface="Arial" panose="020B0604020202020204" pitchFamily="34" charset="0"/>
                        <a:buChar char="•"/>
                      </a:pPr>
                      <a:r>
                        <a:rPr lang="en-US" dirty="0"/>
                        <a:t>Demonstrates adaptability to noisy images, making my design more reliable.</a:t>
                      </a:r>
                      <a:endParaRPr lang="en-IN" dirty="0"/>
                    </a:p>
                  </a:txBody>
                  <a:tcPr/>
                </a:tc>
                <a:extLst>
                  <a:ext uri="{0D108BD9-81ED-4DB2-BD59-A6C34878D82A}">
                    <a16:rowId xmlns:a16="http://schemas.microsoft.com/office/drawing/2014/main" val="1463493795"/>
                  </a:ext>
                </a:extLst>
              </a:tr>
            </a:tbl>
          </a:graphicData>
        </a:graphic>
      </p:graphicFrame>
    </p:spTree>
    <p:extLst>
      <p:ext uri="{BB962C8B-B14F-4D97-AF65-F5344CB8AC3E}">
        <p14:creationId xmlns:p14="http://schemas.microsoft.com/office/powerpoint/2010/main" val="2541196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AC7B0-38AC-9104-6EF3-CE73261CB47F}"/>
              </a:ext>
            </a:extLst>
          </p:cNvPr>
          <p:cNvSpPr txBox="1">
            <a:spLocks/>
          </p:cNvSpPr>
          <p:nvPr/>
        </p:nvSpPr>
        <p:spPr>
          <a:xfrm>
            <a:off x="914400" y="512382"/>
            <a:ext cx="10363200" cy="1143000"/>
          </a:xfrm>
          <a:prstGeom prst="rect">
            <a:avLst/>
          </a:prstGeom>
        </p:spPr>
        <p:txBody>
          <a:bodyPr/>
          <a:lstStyle>
            <a:lvl1pPr algn="l" rtl="0" eaLnBrk="1" latinLnBrk="0" hangingPunct="1">
              <a:spcBef>
                <a:spcPct val="0"/>
              </a:spcBef>
              <a:buNone/>
              <a:defRPr kumimoji="0" sz="4000" kern="1200">
                <a:solidFill>
                  <a:schemeClr val="tx2"/>
                </a:solidFill>
                <a:latin typeface="+mj-lt"/>
                <a:ea typeface="+mj-ea"/>
                <a:cs typeface="+mj-cs"/>
              </a:defRPr>
            </a:lvl1pPr>
          </a:lstStyle>
          <a:p>
            <a:r>
              <a:rPr lang="en-IN"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7A576488-8E3F-8DB7-0202-C6B4A1175537}"/>
              </a:ext>
            </a:extLst>
          </p:cNvPr>
          <p:cNvSpPr txBox="1">
            <a:spLocks/>
          </p:cNvSpPr>
          <p:nvPr/>
        </p:nvSpPr>
        <p:spPr>
          <a:xfrm>
            <a:off x="914400" y="1502664"/>
            <a:ext cx="10363200" cy="4572000"/>
          </a:xfrm>
          <a:prstGeom prst="rect">
            <a:avLst/>
          </a:prstGeom>
        </p:spPr>
        <p:txBody>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r>
              <a:rPr lang="en-IN" b="1" dirty="0">
                <a:latin typeface="Times New Roman" panose="02020603050405020304" pitchFamily="18" charset="0"/>
                <a:cs typeface="Times New Roman" panose="02020603050405020304" pitchFamily="18" charset="0"/>
              </a:rPr>
              <a:t>Problem:</a:t>
            </a:r>
            <a:r>
              <a:rPr lang="en-IN" dirty="0">
                <a:latin typeface="Times New Roman" panose="02020603050405020304" pitchFamily="18" charset="0"/>
                <a:cs typeface="Times New Roman" panose="02020603050405020304" pitchFamily="18" charset="0"/>
              </a:rPr>
              <a:t> Software-only edge detection is slow for real-time video/image processing.</a:t>
            </a:r>
          </a:p>
          <a:p>
            <a:r>
              <a:rPr lang="en-IN" b="1" dirty="0">
                <a:latin typeface="Times New Roman" panose="02020603050405020304" pitchFamily="18" charset="0"/>
                <a:cs typeface="Times New Roman" panose="02020603050405020304" pitchFamily="18" charset="0"/>
              </a:rPr>
              <a:t>Gap: </a:t>
            </a:r>
            <a:r>
              <a:rPr lang="en-IN" dirty="0">
                <a:latin typeface="Times New Roman" panose="02020603050405020304" pitchFamily="18" charset="0"/>
                <a:cs typeface="Times New Roman" panose="02020603050405020304" pitchFamily="18" charset="0"/>
              </a:rPr>
              <a:t>Need a high-speed, parallel solution.</a:t>
            </a:r>
          </a:p>
          <a:p>
            <a:r>
              <a:rPr lang="en-IN" b="1" dirty="0">
                <a:latin typeface="Times New Roman" panose="02020603050405020304" pitchFamily="18" charset="0"/>
                <a:cs typeface="Times New Roman" panose="02020603050405020304" pitchFamily="18" charset="0"/>
              </a:rPr>
              <a:t>Solution: </a:t>
            </a:r>
            <a:r>
              <a:rPr lang="en-IN" dirty="0">
                <a:latin typeface="Times New Roman" panose="02020603050405020304" pitchFamily="18" charset="0"/>
                <a:cs typeface="Times New Roman" panose="02020603050405020304" pitchFamily="18" charset="0"/>
              </a:rPr>
              <a:t>FPGA hardware acceleration with Sobel filters + DMA.</a:t>
            </a:r>
          </a:p>
          <a:p>
            <a:r>
              <a:rPr lang="en-IN" b="1" dirty="0">
                <a:latin typeface="Times New Roman" panose="02020603050405020304" pitchFamily="18" charset="0"/>
                <a:cs typeface="Times New Roman" panose="02020603050405020304" pitchFamily="18" charset="0"/>
              </a:rPr>
              <a:t>Impact: </a:t>
            </a:r>
            <a:r>
              <a:rPr lang="en-IN" dirty="0">
                <a:latin typeface="Times New Roman" panose="02020603050405020304" pitchFamily="18" charset="0"/>
                <a:cs typeface="Times New Roman" panose="02020603050405020304" pitchFamily="18" charset="0"/>
              </a:rPr>
              <a:t>Real-time performance for vision applications (robots, surveillance, medical imaging, etc.).</a:t>
            </a:r>
          </a:p>
        </p:txBody>
      </p:sp>
    </p:spTree>
    <p:extLst>
      <p:ext uri="{BB962C8B-B14F-4D97-AF65-F5344CB8AC3E}">
        <p14:creationId xmlns:p14="http://schemas.microsoft.com/office/powerpoint/2010/main" val="21705818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B1AFD-58BB-31D9-80D3-F1C87D7065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F7CB4A-5EE3-ACAE-1CCE-1DF3666F2DA7}"/>
              </a:ext>
            </a:extLst>
          </p:cNvPr>
          <p:cNvSpPr>
            <a:spLocks noGrp="1"/>
          </p:cNvSpPr>
          <p:nvPr>
            <p:ph type="title"/>
          </p:nvPr>
        </p:nvSpPr>
        <p:spPr>
          <a:xfrm>
            <a:off x="527304" y="386461"/>
            <a:ext cx="10515600" cy="1061339"/>
          </a:xfrm>
        </p:spPr>
        <p:txBody>
          <a:bodyPr/>
          <a:lstStyle/>
          <a:p>
            <a:r>
              <a:rPr lang="en-IN" b="1" dirty="0">
                <a:latin typeface="Times New Roman" panose="02020603050405020304" pitchFamily="18" charset="0"/>
                <a:cs typeface="Times New Roman" panose="02020603050405020304" pitchFamily="18" charset="0"/>
              </a:rPr>
              <a:t>OBJECTIVE:</a:t>
            </a:r>
          </a:p>
        </p:txBody>
      </p:sp>
      <p:graphicFrame>
        <p:nvGraphicFramePr>
          <p:cNvPr id="3" name="Table 2">
            <a:extLst>
              <a:ext uri="{FF2B5EF4-FFF2-40B4-BE49-F238E27FC236}">
                <a16:creationId xmlns:a16="http://schemas.microsoft.com/office/drawing/2014/main" id="{BBE5645F-A8CE-03F6-8060-80B476DE8EF7}"/>
              </a:ext>
            </a:extLst>
          </p:cNvPr>
          <p:cNvGraphicFramePr>
            <a:graphicFrameLocks noGrp="1"/>
          </p:cNvGraphicFramePr>
          <p:nvPr>
            <p:extLst>
              <p:ext uri="{D42A27DB-BD31-4B8C-83A1-F6EECF244321}">
                <p14:modId xmlns:p14="http://schemas.microsoft.com/office/powerpoint/2010/main" val="3943205595"/>
              </p:ext>
            </p:extLst>
          </p:nvPr>
        </p:nvGraphicFramePr>
        <p:xfrm>
          <a:off x="1167384" y="1575816"/>
          <a:ext cx="9857232" cy="4507315"/>
        </p:xfrm>
        <a:graphic>
          <a:graphicData uri="http://schemas.openxmlformats.org/drawingml/2006/table">
            <a:tbl>
              <a:tblPr firstRow="1" bandRow="1">
                <a:tableStyleId>{5C22544A-7EE6-4342-B048-85BDC9FD1C3A}</a:tableStyleId>
              </a:tblPr>
              <a:tblGrid>
                <a:gridCol w="3285744">
                  <a:extLst>
                    <a:ext uri="{9D8B030D-6E8A-4147-A177-3AD203B41FA5}">
                      <a16:colId xmlns:a16="http://schemas.microsoft.com/office/drawing/2014/main" val="2894817630"/>
                    </a:ext>
                  </a:extLst>
                </a:gridCol>
                <a:gridCol w="3285744">
                  <a:extLst>
                    <a:ext uri="{9D8B030D-6E8A-4147-A177-3AD203B41FA5}">
                      <a16:colId xmlns:a16="http://schemas.microsoft.com/office/drawing/2014/main" val="745992537"/>
                    </a:ext>
                  </a:extLst>
                </a:gridCol>
                <a:gridCol w="3285744">
                  <a:extLst>
                    <a:ext uri="{9D8B030D-6E8A-4147-A177-3AD203B41FA5}">
                      <a16:colId xmlns:a16="http://schemas.microsoft.com/office/drawing/2014/main" val="3566448562"/>
                    </a:ext>
                  </a:extLst>
                </a:gridCol>
              </a:tblGrid>
              <a:tr h="414923">
                <a:tc>
                  <a:txBody>
                    <a:bodyPr/>
                    <a:lstStyle/>
                    <a:p>
                      <a:pPr algn="ctr">
                        <a:buNone/>
                      </a:pPr>
                      <a:r>
                        <a:rPr lang="en-IN" b="1" dirty="0"/>
                        <a:t>Project Objective</a:t>
                      </a:r>
                    </a:p>
                  </a:txBody>
                  <a:tcPr anchor="ctr"/>
                </a:tc>
                <a:tc>
                  <a:txBody>
                    <a:bodyPr/>
                    <a:lstStyle/>
                    <a:p>
                      <a:pPr algn="ctr">
                        <a:buNone/>
                      </a:pPr>
                      <a:r>
                        <a:rPr lang="en-IN" b="1" dirty="0"/>
                        <a:t>Relevant SDG(s)</a:t>
                      </a:r>
                    </a:p>
                  </a:txBody>
                  <a:tcPr anchor="ctr"/>
                </a:tc>
                <a:tc>
                  <a:txBody>
                    <a:bodyPr/>
                    <a:lstStyle/>
                    <a:p>
                      <a:pPr algn="ctr">
                        <a:buNone/>
                      </a:pPr>
                      <a:r>
                        <a:rPr lang="en-IN" b="1" dirty="0"/>
                        <a:t>SDG Goal Description</a:t>
                      </a:r>
                    </a:p>
                  </a:txBody>
                  <a:tcPr anchor="ctr"/>
                </a:tc>
                <a:extLst>
                  <a:ext uri="{0D108BD9-81ED-4DB2-BD59-A6C34878D82A}">
                    <a16:rowId xmlns:a16="http://schemas.microsoft.com/office/drawing/2014/main" val="918769100"/>
                  </a:ext>
                </a:extLst>
              </a:tr>
              <a:tr h="1023098">
                <a:tc>
                  <a:txBody>
                    <a:bodyPr/>
                    <a:lstStyle/>
                    <a:p>
                      <a:pPr algn="l">
                        <a:buNone/>
                      </a:pPr>
                      <a:r>
                        <a:rPr lang="en-US" dirty="0"/>
                        <a:t>Design real-time edge detection on FPGA</a:t>
                      </a:r>
                    </a:p>
                  </a:txBody>
                  <a:tcPr anchor="ctr"/>
                </a:tc>
                <a:tc>
                  <a:txBody>
                    <a:bodyPr/>
                    <a:lstStyle/>
                    <a:p>
                      <a:pPr algn="l">
                        <a:buNone/>
                      </a:pPr>
                      <a:r>
                        <a:rPr lang="en-US"/>
                        <a:t>SDG 9: Industry, Innovation, and Infrastructure</a:t>
                      </a:r>
                    </a:p>
                  </a:txBody>
                  <a:tcPr anchor="ctr"/>
                </a:tc>
                <a:tc>
                  <a:txBody>
                    <a:bodyPr/>
                    <a:lstStyle/>
                    <a:p>
                      <a:pPr algn="l">
                        <a:buNone/>
                      </a:pPr>
                      <a:r>
                        <a:rPr lang="en-US" dirty="0"/>
                        <a:t>Promote inclusive and sustainable industrialization and foster innovation</a:t>
                      </a:r>
                    </a:p>
                  </a:txBody>
                  <a:tcPr anchor="ctr"/>
                </a:tc>
                <a:extLst>
                  <a:ext uri="{0D108BD9-81ED-4DB2-BD59-A6C34878D82A}">
                    <a16:rowId xmlns:a16="http://schemas.microsoft.com/office/drawing/2014/main" val="3945010630"/>
                  </a:ext>
                </a:extLst>
              </a:tr>
              <a:tr h="1023098">
                <a:tc>
                  <a:txBody>
                    <a:bodyPr/>
                    <a:lstStyle/>
                    <a:p>
                      <a:pPr algn="l">
                        <a:buNone/>
                      </a:pPr>
                      <a:r>
                        <a:rPr lang="en-US"/>
                        <a:t>Ensure energy-efficient hardware image processing</a:t>
                      </a:r>
                    </a:p>
                  </a:txBody>
                  <a:tcPr anchor="ctr"/>
                </a:tc>
                <a:tc>
                  <a:txBody>
                    <a:bodyPr/>
                    <a:lstStyle/>
                    <a:p>
                      <a:pPr algn="l">
                        <a:buNone/>
                      </a:pPr>
                      <a:r>
                        <a:rPr lang="en-US" dirty="0"/>
                        <a:t>SDG 7: Affordable and Clean Energy</a:t>
                      </a:r>
                    </a:p>
                  </a:txBody>
                  <a:tcPr anchor="ctr"/>
                </a:tc>
                <a:tc>
                  <a:txBody>
                    <a:bodyPr/>
                    <a:lstStyle/>
                    <a:p>
                      <a:pPr algn="l">
                        <a:buNone/>
                      </a:pPr>
                      <a:r>
                        <a:rPr lang="en-US"/>
                        <a:t>Ensure access to affordable, reliable, sustainable and modern energy for all</a:t>
                      </a:r>
                    </a:p>
                  </a:txBody>
                  <a:tcPr anchor="ctr"/>
                </a:tc>
                <a:extLst>
                  <a:ext uri="{0D108BD9-81ED-4DB2-BD59-A6C34878D82A}">
                    <a16:rowId xmlns:a16="http://schemas.microsoft.com/office/drawing/2014/main" val="2394877819"/>
                  </a:ext>
                </a:extLst>
              </a:tr>
              <a:tr h="1023098">
                <a:tc>
                  <a:txBody>
                    <a:bodyPr/>
                    <a:lstStyle/>
                    <a:p>
                      <a:pPr algn="l">
                        <a:buNone/>
                      </a:pPr>
                      <a:r>
                        <a:rPr lang="en-US"/>
                        <a:t>Apply embedded vision for urban safety and smart infrastructure</a:t>
                      </a:r>
                    </a:p>
                  </a:txBody>
                  <a:tcPr anchor="ctr"/>
                </a:tc>
                <a:tc>
                  <a:txBody>
                    <a:bodyPr/>
                    <a:lstStyle/>
                    <a:p>
                      <a:pPr algn="l">
                        <a:buNone/>
                      </a:pPr>
                      <a:r>
                        <a:rPr lang="en-US" dirty="0"/>
                        <a:t>SDG 11: Sustainable Cities and Communities</a:t>
                      </a:r>
                    </a:p>
                  </a:txBody>
                  <a:tcPr anchor="ctr"/>
                </a:tc>
                <a:tc>
                  <a:txBody>
                    <a:bodyPr/>
                    <a:lstStyle/>
                    <a:p>
                      <a:pPr algn="l">
                        <a:buNone/>
                      </a:pPr>
                      <a:r>
                        <a:rPr lang="en-US" dirty="0"/>
                        <a:t>Make cities inclusive, safe, resilient and sustainable</a:t>
                      </a:r>
                    </a:p>
                  </a:txBody>
                  <a:tcPr anchor="ctr"/>
                </a:tc>
                <a:extLst>
                  <a:ext uri="{0D108BD9-81ED-4DB2-BD59-A6C34878D82A}">
                    <a16:rowId xmlns:a16="http://schemas.microsoft.com/office/drawing/2014/main" val="362764310"/>
                  </a:ext>
                </a:extLst>
              </a:tr>
              <a:tr h="1023098">
                <a:tc>
                  <a:txBody>
                    <a:bodyPr/>
                    <a:lstStyle/>
                    <a:p>
                      <a:pPr algn="l">
                        <a:buNone/>
                      </a:pPr>
                      <a:r>
                        <a:rPr lang="en-US"/>
                        <a:t>Use open/hands-on tech for education and research</a:t>
                      </a:r>
                    </a:p>
                  </a:txBody>
                  <a:tcPr anchor="ctr"/>
                </a:tc>
                <a:tc>
                  <a:txBody>
                    <a:bodyPr/>
                    <a:lstStyle/>
                    <a:p>
                      <a:pPr algn="l">
                        <a:buNone/>
                      </a:pPr>
                      <a:r>
                        <a:rPr lang="en-IN" dirty="0"/>
                        <a:t>SDG 4: Quality Education</a:t>
                      </a:r>
                    </a:p>
                  </a:txBody>
                  <a:tcPr anchor="ctr"/>
                </a:tc>
                <a:tc>
                  <a:txBody>
                    <a:bodyPr/>
                    <a:lstStyle/>
                    <a:p>
                      <a:pPr algn="l">
                        <a:buNone/>
                      </a:pPr>
                      <a:r>
                        <a:rPr lang="en-US" dirty="0"/>
                        <a:t>Ensure inclusive and equitable quality education and promote lifelong learning</a:t>
                      </a:r>
                    </a:p>
                  </a:txBody>
                  <a:tcPr anchor="ctr"/>
                </a:tc>
                <a:extLst>
                  <a:ext uri="{0D108BD9-81ED-4DB2-BD59-A6C34878D82A}">
                    <a16:rowId xmlns:a16="http://schemas.microsoft.com/office/drawing/2014/main" val="800665033"/>
                  </a:ext>
                </a:extLst>
              </a:tr>
            </a:tbl>
          </a:graphicData>
        </a:graphic>
      </p:graphicFrame>
    </p:spTree>
    <p:extLst>
      <p:ext uri="{BB962C8B-B14F-4D97-AF65-F5344CB8AC3E}">
        <p14:creationId xmlns:p14="http://schemas.microsoft.com/office/powerpoint/2010/main" val="28450090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3C9E0-E881-66F4-0DF7-1ACFAA5F8C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E1AC75-B427-1B28-0EDA-4FCB0FA331F2}"/>
              </a:ext>
            </a:extLst>
          </p:cNvPr>
          <p:cNvSpPr>
            <a:spLocks noGrp="1"/>
          </p:cNvSpPr>
          <p:nvPr>
            <p:ph type="title"/>
          </p:nvPr>
        </p:nvSpPr>
        <p:spPr>
          <a:xfrm>
            <a:off x="527304" y="439025"/>
            <a:ext cx="10515600" cy="1061339"/>
          </a:xfrm>
        </p:spPr>
        <p:txBody>
          <a:bodyPr/>
          <a:lstStyle/>
          <a:p>
            <a:r>
              <a:rPr lang="en-IN" b="1">
                <a:latin typeface="Times New Roman" panose="02020603050405020304" pitchFamily="18" charset="0"/>
                <a:cs typeface="Times New Roman" panose="02020603050405020304" pitchFamily="18" charset="0"/>
              </a:rPr>
              <a:t>Implementation of Sobel </a:t>
            </a:r>
            <a:r>
              <a:rPr lang="en-IN" b="1" dirty="0">
                <a:latin typeface="Times New Roman" panose="02020603050405020304" pitchFamily="18" charset="0"/>
                <a:cs typeface="Times New Roman" panose="02020603050405020304" pitchFamily="18" charset="0"/>
              </a:rPr>
              <a:t>Steps:</a:t>
            </a:r>
          </a:p>
        </p:txBody>
      </p:sp>
      <p:sp>
        <p:nvSpPr>
          <p:cNvPr id="14" name="Rectangle 11">
            <a:extLst>
              <a:ext uri="{FF2B5EF4-FFF2-40B4-BE49-F238E27FC236}">
                <a16:creationId xmlns:a16="http://schemas.microsoft.com/office/drawing/2014/main" id="{8B111B70-CC47-D6BC-0D4C-31AF45D9C5B8}"/>
              </a:ext>
            </a:extLst>
          </p:cNvPr>
          <p:cNvSpPr>
            <a:spLocks noGrp="1" noChangeArrowheads="1"/>
          </p:cNvSpPr>
          <p:nvPr>
            <p:ph sz="quarter" idx="1"/>
          </p:nvPr>
        </p:nvSpPr>
        <p:spPr bwMode="auto">
          <a:xfrm>
            <a:off x="400221" y="1534596"/>
            <a:ext cx="11137392" cy="38010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400" dirty="0">
                <a:latin typeface="Times New Roman" panose="02020603050405020304" pitchFamily="18" charset="0"/>
                <a:cs typeface="Times New Roman" panose="02020603050405020304" pitchFamily="18" charset="0"/>
              </a:rPr>
              <a:t>Design and implement a block-based hardware system using Vivado IP Integrator.</a:t>
            </a:r>
          </a:p>
          <a:p>
            <a:r>
              <a:rPr lang="en-IN" sz="2400" dirty="0">
                <a:latin typeface="Times New Roman" panose="02020603050405020304" pitchFamily="18" charset="0"/>
                <a:cs typeface="Times New Roman" panose="02020603050405020304" pitchFamily="18" charset="0"/>
              </a:rPr>
              <a:t>Integrate Sobel X and Y filters using custom IP (Intellectual Property) blocks in the PL (Programmable Logic).</a:t>
            </a:r>
          </a:p>
          <a:p>
            <a:r>
              <a:rPr lang="en-IN" sz="2400" dirty="0">
                <a:latin typeface="Times New Roman" panose="02020603050405020304" pitchFamily="18" charset="0"/>
                <a:cs typeface="Times New Roman" panose="02020603050405020304" pitchFamily="18" charset="0"/>
              </a:rPr>
              <a:t>Use dual DMA channels (</a:t>
            </a:r>
            <a:r>
              <a:rPr lang="en-IN" sz="2400" dirty="0" err="1">
                <a:latin typeface="Times New Roman" panose="02020603050405020304" pitchFamily="18" charset="0"/>
                <a:cs typeface="Times New Roman" panose="02020603050405020304" pitchFamily="18" charset="0"/>
              </a:rPr>
              <a:t>axi_dma_x</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axi_dma_y</a:t>
            </a:r>
            <a:r>
              <a:rPr lang="en-IN" sz="2400" dirty="0">
                <a:latin typeface="Times New Roman" panose="02020603050405020304" pitchFamily="18" charset="0"/>
                <a:cs typeface="Times New Roman" panose="02020603050405020304" pitchFamily="18" charset="0"/>
              </a:rPr>
              <a:t>) to transfer image data between DDR and Sobel IPs.</a:t>
            </a:r>
          </a:p>
          <a:p>
            <a:r>
              <a:rPr lang="en-IN" sz="2400" dirty="0">
                <a:latin typeface="Times New Roman" panose="02020603050405020304" pitchFamily="18" charset="0"/>
                <a:cs typeface="Times New Roman" panose="02020603050405020304" pitchFamily="18" charset="0"/>
              </a:rPr>
              <a:t>Capture grayscale images using OpenCV and process them using the hardware pipeline.</a:t>
            </a:r>
          </a:p>
          <a:p>
            <a:r>
              <a:rPr kumimoji="0" lang="en-US" altLang="en-US" sz="2400" b="0" i="0" u="none" strike="noStrike" cap="none" normalizeH="0" baseline="0" dirty="0">
                <a:ln>
                  <a:noFill/>
                </a:ln>
                <a:solidFill>
                  <a:schemeClr val="tx1"/>
                </a:solidFill>
                <a:effectLst/>
                <a:latin typeface="Times New Roman" pitchFamily="18" charset="0"/>
                <a:cs typeface="Times New Roman" pitchFamily="18" charset="0"/>
              </a:rPr>
              <a:t>Display Sobel X, Sobel Y, and gradient outputs on an HDMI monitor.</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37994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3274" y="0"/>
            <a:ext cx="10363200" cy="1143000"/>
          </a:xfrm>
        </p:spPr>
        <p:txBody>
          <a:bodyPr>
            <a:normAutofit/>
          </a:bodyPr>
          <a:lstStyle/>
          <a:p>
            <a:r>
              <a:rPr lang="en-US" b="1" dirty="0">
                <a:latin typeface="Times New Roman" panose="02020603050405020304" pitchFamily="18" charset="0"/>
                <a:cs typeface="Times New Roman" panose="02020603050405020304" pitchFamily="18" charset="0"/>
              </a:rPr>
              <a:t>PYNQ</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464676" y="960120"/>
            <a:ext cx="6606684" cy="5775960"/>
          </a:xfrm>
        </p:spPr>
        <p:txBody>
          <a:bodyPr>
            <a:noAutofit/>
          </a:bodyPr>
          <a:lstStyle/>
          <a:p>
            <a:pPr algn="just"/>
            <a:r>
              <a:rPr lang="en-US" sz="2400" dirty="0">
                <a:latin typeface="Times New Roman" pitchFamily="18" charset="0"/>
                <a:cs typeface="Times New Roman" pitchFamily="18" charset="0"/>
              </a:rPr>
              <a:t>PYNQ™ is an open-source project from AMD® that makes it easier to use Adaptive Computing platforms.</a:t>
            </a:r>
          </a:p>
          <a:p>
            <a:pPr algn="just"/>
            <a:r>
              <a:rPr lang="en-US" sz="2400" dirty="0">
                <a:latin typeface="Times New Roman" pitchFamily="18" charset="0"/>
                <a:cs typeface="Times New Roman" pitchFamily="18" charset="0"/>
              </a:rPr>
              <a:t>Using the Python language, Jupyter notebooks, and the huge ecosystem of Python libraries, designers can exploit the benefits of programmable logic and microprocessors to build more capable and exciting electronic systems.</a:t>
            </a:r>
          </a:p>
          <a:p>
            <a:pPr algn="just"/>
            <a:r>
              <a:rPr lang="en-US" sz="2400" dirty="0">
                <a:latin typeface="Times New Roman" pitchFamily="18" charset="0"/>
                <a:cs typeface="Times New Roman" pitchFamily="18" charset="0"/>
              </a:rPr>
              <a:t>PYNQ can be used to create high performance applications with:</a:t>
            </a:r>
          </a:p>
          <a:p>
            <a:pPr algn="just"/>
            <a:r>
              <a:rPr lang="en-US" sz="2400" dirty="0">
                <a:latin typeface="Times New Roman" pitchFamily="18" charset="0"/>
                <a:cs typeface="Times New Roman" pitchFamily="18" charset="0"/>
              </a:rPr>
              <a:t>Parallel hardware execution</a:t>
            </a:r>
          </a:p>
          <a:p>
            <a:pPr algn="just"/>
            <a:r>
              <a:rPr lang="en-US" sz="2400" dirty="0">
                <a:latin typeface="Times New Roman" pitchFamily="18" charset="0"/>
                <a:cs typeface="Times New Roman" pitchFamily="18" charset="0"/>
              </a:rPr>
              <a:t>High frame-rate video processing</a:t>
            </a:r>
          </a:p>
          <a:p>
            <a:pPr algn="just"/>
            <a:r>
              <a:rPr lang="en-US" sz="2400" dirty="0">
                <a:latin typeface="Times New Roman" pitchFamily="18" charset="0"/>
                <a:cs typeface="Times New Roman" pitchFamily="18" charset="0"/>
              </a:rPr>
              <a:t>Hardware accelerated algorithms</a:t>
            </a:r>
          </a:p>
          <a:p>
            <a:pPr algn="just"/>
            <a:r>
              <a:rPr lang="en-US" sz="2400" dirty="0">
                <a:latin typeface="Times New Roman" pitchFamily="18" charset="0"/>
                <a:cs typeface="Times New Roman" pitchFamily="18" charset="0"/>
              </a:rPr>
              <a:t>Real-time signal processing</a:t>
            </a:r>
          </a:p>
          <a:p>
            <a:pPr>
              <a:buNone/>
            </a:pPr>
            <a:endParaRPr lang="en-US" sz="2400" b="1" dirty="0"/>
          </a:p>
        </p:txBody>
      </p:sp>
      <p:pic>
        <p:nvPicPr>
          <p:cNvPr id="10" name="Content Placeholder 9">
            <a:extLst>
              <a:ext uri="{FF2B5EF4-FFF2-40B4-BE49-F238E27FC236}">
                <a16:creationId xmlns:a16="http://schemas.microsoft.com/office/drawing/2014/main" id="{79996300-F41A-A36B-7CDC-6930BED8C174}"/>
              </a:ext>
            </a:extLst>
          </p:cNvPr>
          <p:cNvPicPr>
            <a:picLocks noGrp="1" noChangeAspect="1"/>
          </p:cNvPicPr>
          <p:nvPr>
            <p:ph sz="quarter" idx="2"/>
          </p:nvPr>
        </p:nvPicPr>
        <p:blipFill>
          <a:blip r:embed="rId2">
            <a:extLst>
              <a:ext uri="{28A0092B-C50C-407E-A947-70E740481C1C}">
                <a14:useLocalDpi xmlns:a14="http://schemas.microsoft.com/office/drawing/2010/main" val="0"/>
              </a:ext>
            </a:extLst>
          </a:blip>
          <a:stretch>
            <a:fillRect/>
          </a:stretch>
        </p:blipFill>
        <p:spPr>
          <a:xfrm>
            <a:off x="7071360" y="1143000"/>
            <a:ext cx="5029200" cy="4069080"/>
          </a:xfr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6E02D-985F-AD5B-AE40-9B80DE27772E}"/>
              </a:ext>
            </a:extLst>
          </p:cNvPr>
          <p:cNvSpPr>
            <a:spLocks noGrp="1"/>
          </p:cNvSpPr>
          <p:nvPr>
            <p:ph type="title"/>
          </p:nvPr>
        </p:nvSpPr>
        <p:spPr>
          <a:xfrm>
            <a:off x="749808" y="434340"/>
            <a:ext cx="10363200" cy="1143000"/>
          </a:xfrm>
        </p:spPr>
        <p:txBody>
          <a:bodyPr>
            <a:normAutofit fontScale="90000"/>
          </a:bodyPr>
          <a:lstStyle/>
          <a:p>
            <a:r>
              <a:rPr lang="en-IN" b="1" dirty="0">
                <a:latin typeface="Times New Roman" panose="02020603050405020304" pitchFamily="18" charset="0"/>
                <a:cs typeface="Times New Roman" panose="02020603050405020304" pitchFamily="18" charset="0"/>
              </a:rPr>
              <a:t>Board Overview</a:t>
            </a:r>
            <a:br>
              <a:rPr lang="en-IN" dirty="0"/>
            </a:br>
            <a:endParaRPr lang="en-IN" dirty="0"/>
          </a:p>
        </p:txBody>
      </p:sp>
      <p:sp>
        <p:nvSpPr>
          <p:cNvPr id="3" name="Content Placeholder 2">
            <a:extLst>
              <a:ext uri="{FF2B5EF4-FFF2-40B4-BE49-F238E27FC236}">
                <a16:creationId xmlns:a16="http://schemas.microsoft.com/office/drawing/2014/main" id="{D9D3E5BF-ED6C-50F6-301F-4D4D9ABDBC37}"/>
              </a:ext>
            </a:extLst>
          </p:cNvPr>
          <p:cNvSpPr>
            <a:spLocks noGrp="1"/>
          </p:cNvSpPr>
          <p:nvPr>
            <p:ph sz="quarter" idx="1"/>
          </p:nvPr>
        </p:nvSpPr>
        <p:spPr>
          <a:xfrm>
            <a:off x="749808" y="1409700"/>
            <a:ext cx="10832592" cy="5013960"/>
          </a:xfrm>
        </p:spPr>
        <p:txBody>
          <a:bodyPr/>
          <a:lstStyle/>
          <a:p>
            <a:r>
              <a:rPr lang="en-IN" sz="2400" dirty="0">
                <a:latin typeface="Times New Roman" panose="02020603050405020304" pitchFamily="18" charset="0"/>
                <a:cs typeface="Times New Roman" panose="02020603050405020304" pitchFamily="18" charset="0"/>
              </a:rPr>
              <a:t>The PYNQ-Z2 board is built around the </a:t>
            </a:r>
            <a:r>
              <a:rPr lang="en-IN" sz="2400" b="1" dirty="0">
                <a:latin typeface="Times New Roman" panose="02020603050405020304" pitchFamily="18" charset="0"/>
                <a:cs typeface="Times New Roman" panose="02020603050405020304" pitchFamily="18" charset="0"/>
              </a:rPr>
              <a:t>ZYNQ XC7Z020-1CLG400C </a:t>
            </a:r>
            <a:r>
              <a:rPr lang="en-IN" sz="2400" dirty="0">
                <a:latin typeface="Times New Roman" panose="02020603050405020304" pitchFamily="18" charset="0"/>
                <a:cs typeface="Times New Roman" panose="02020603050405020304" pitchFamily="18" charset="0"/>
              </a:rPr>
              <a:t>device, which integrates the following key components:</a:t>
            </a:r>
          </a:p>
          <a:p>
            <a:r>
              <a:rPr lang="en-IN" sz="2400" dirty="0">
                <a:latin typeface="Times New Roman" panose="02020603050405020304" pitchFamily="18" charset="0"/>
                <a:cs typeface="Times New Roman" panose="02020603050405020304" pitchFamily="18" charset="0"/>
              </a:rPr>
              <a:t>Dual-core ARM Cortex-A9 processor (650 MHz).</a:t>
            </a:r>
          </a:p>
          <a:p>
            <a:r>
              <a:rPr lang="en-IN" sz="2400" dirty="0">
                <a:latin typeface="Times New Roman" panose="02020603050405020304" pitchFamily="18" charset="0"/>
                <a:cs typeface="Times New Roman" panose="02020603050405020304" pitchFamily="18" charset="0"/>
              </a:rPr>
              <a:t>512MB DDR3 memory for the processor subsystem.</a:t>
            </a:r>
          </a:p>
          <a:p>
            <a:r>
              <a:rPr lang="en-IN" sz="2400" dirty="0">
                <a:latin typeface="Times New Roman" panose="02020603050405020304" pitchFamily="18" charset="0"/>
                <a:cs typeface="Times New Roman" panose="02020603050405020304" pitchFamily="18" charset="0"/>
              </a:rPr>
              <a:t>Extensive I/O interfaces: 2 </a:t>
            </a:r>
            <a:r>
              <a:rPr lang="en-IN" sz="2400" dirty="0" err="1">
                <a:latin typeface="Times New Roman" panose="02020603050405020304" pitchFamily="18" charset="0"/>
                <a:cs typeface="Times New Roman" panose="02020603050405020304" pitchFamily="18" charset="0"/>
              </a:rPr>
              <a:t>Pmod</a:t>
            </a:r>
            <a:r>
              <a:rPr lang="en-IN" sz="2400" dirty="0">
                <a:latin typeface="Times New Roman" panose="02020603050405020304" pitchFamily="18" charset="0"/>
                <a:cs typeface="Times New Roman" panose="02020603050405020304" pitchFamily="18" charset="0"/>
              </a:rPr>
              <a:t> ports (for peripheral modules), HDMI input/output, Arduino and Raspberry Pi connectors, USB 2.0, Gigabit Ethernet, audio deck (I2S DAC), switches, push-buttons, and programmable LEDs.</a:t>
            </a:r>
          </a:p>
          <a:p>
            <a:r>
              <a:rPr lang="en-IN" sz="2400" dirty="0">
                <a:latin typeface="Times New Roman" panose="02020603050405020304" pitchFamily="18" charset="0"/>
                <a:cs typeface="Times New Roman" panose="02020603050405020304" pitchFamily="18" charset="0"/>
              </a:rPr>
              <a:t>Programmable from JTAG, Quad-SPI flash, and MicroSD card.</a:t>
            </a:r>
          </a:p>
          <a:p>
            <a:endParaRPr lang="en-IN" dirty="0"/>
          </a:p>
        </p:txBody>
      </p:sp>
    </p:spTree>
    <p:extLst>
      <p:ext uri="{BB962C8B-B14F-4D97-AF65-F5344CB8AC3E}">
        <p14:creationId xmlns:p14="http://schemas.microsoft.com/office/powerpoint/2010/main" val="974594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A1641-7C3E-0742-6B10-2E48BD0994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8F98FA-1D7F-388E-7F80-2A6A1CB75C5A}"/>
              </a:ext>
            </a:extLst>
          </p:cNvPr>
          <p:cNvSpPr>
            <a:spLocks noGrp="1"/>
          </p:cNvSpPr>
          <p:nvPr>
            <p:ph type="title"/>
          </p:nvPr>
        </p:nvSpPr>
        <p:spPr>
          <a:xfrm>
            <a:off x="464676" y="-404056"/>
            <a:ext cx="10363200" cy="1143000"/>
          </a:xfrm>
        </p:spPr>
        <p:txBody>
          <a:bodyPr>
            <a:normAutofit/>
          </a:bodyPr>
          <a:lstStyle/>
          <a:p>
            <a:r>
              <a:rPr lang="en-US" b="1" dirty="0">
                <a:latin typeface="Times New Roman" panose="02020603050405020304" pitchFamily="18" charset="0"/>
                <a:cs typeface="Times New Roman" panose="02020603050405020304" pitchFamily="18" charset="0"/>
              </a:rPr>
              <a:t>PYNQ ARCHITECTURE</a:t>
            </a:r>
            <a:endParaRPr lang="en-US"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96F009F4-D9EB-4F44-CB88-50151BE5AAE8}"/>
              </a:ext>
            </a:extLst>
          </p:cNvPr>
          <p:cNvPicPr>
            <a:picLocks noGrp="1" noChangeAspect="1"/>
          </p:cNvPicPr>
          <p:nvPr>
            <p:ph sz="quarter" idx="2"/>
          </p:nvPr>
        </p:nvPicPr>
        <p:blipFill>
          <a:blip r:embed="rId2">
            <a:extLst>
              <a:ext uri="{28A0092B-C50C-407E-A947-70E740481C1C}">
                <a14:useLocalDpi xmlns:a14="http://schemas.microsoft.com/office/drawing/2010/main" val="0"/>
              </a:ext>
            </a:extLst>
          </a:blip>
          <a:stretch>
            <a:fillRect/>
          </a:stretch>
        </p:blipFill>
        <p:spPr>
          <a:xfrm>
            <a:off x="2295978" y="527671"/>
            <a:ext cx="7600043" cy="6138305"/>
          </a:xfrm>
        </p:spPr>
      </p:pic>
    </p:spTree>
    <p:extLst>
      <p:ext uri="{BB962C8B-B14F-4D97-AF65-F5344CB8AC3E}">
        <p14:creationId xmlns:p14="http://schemas.microsoft.com/office/powerpoint/2010/main" val="11748412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E1A6C-0343-2712-7163-0542ED229F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0DC3CB-31E9-BC42-BCA9-EC4F2C2E853E}"/>
              </a:ext>
            </a:extLst>
          </p:cNvPr>
          <p:cNvSpPr>
            <a:spLocks noGrp="1"/>
          </p:cNvSpPr>
          <p:nvPr>
            <p:ph type="title"/>
          </p:nvPr>
        </p:nvSpPr>
        <p:spPr>
          <a:xfrm>
            <a:off x="582168" y="0"/>
            <a:ext cx="10363200" cy="1143000"/>
          </a:xfrm>
        </p:spPr>
        <p:txBody>
          <a:bodyPr>
            <a:normAutofit/>
          </a:bodyPr>
          <a:lstStyle/>
          <a:p>
            <a:r>
              <a:rPr lang="en-US" sz="3400" b="1" dirty="0">
                <a:latin typeface="Times New Roman" panose="02020603050405020304" pitchFamily="18" charset="0"/>
                <a:cs typeface="Times New Roman" panose="02020603050405020304" pitchFamily="18" charset="0"/>
              </a:rPr>
              <a:t>Processing System (PS) and Programmable Logic (PL)</a:t>
            </a:r>
            <a:endParaRPr lang="en-IN" sz="3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81C089B-91EE-A514-C004-950910AA4AE6}"/>
              </a:ext>
            </a:extLst>
          </p:cNvPr>
          <p:cNvSpPr>
            <a:spLocks noGrp="1"/>
          </p:cNvSpPr>
          <p:nvPr>
            <p:ph sz="quarter" idx="1"/>
          </p:nvPr>
        </p:nvSpPr>
        <p:spPr>
          <a:xfrm>
            <a:off x="679704" y="1164336"/>
            <a:ext cx="10832592" cy="5410200"/>
          </a:xfrm>
        </p:spPr>
        <p:txBody>
          <a:bodyPr>
            <a:normAutofit lnSpcReduction="10000"/>
          </a:bodyPr>
          <a:lstStyle/>
          <a:p>
            <a:pPr algn="just"/>
            <a:r>
              <a:rPr lang="en-US" b="1" dirty="0">
                <a:latin typeface="Times New Roman" panose="02020603050405020304" pitchFamily="18" charset="0"/>
                <a:cs typeface="Times New Roman" panose="02020603050405020304" pitchFamily="18" charset="0"/>
              </a:rPr>
              <a:t>Processing System (PS):</a:t>
            </a:r>
          </a:p>
          <a:p>
            <a:pPr algn="just"/>
            <a:r>
              <a:rPr lang="en-US" dirty="0">
                <a:latin typeface="Times New Roman" panose="02020603050405020304" pitchFamily="18" charset="0"/>
                <a:cs typeface="Times New Roman" panose="02020603050405020304" pitchFamily="18" charset="0"/>
              </a:rPr>
              <a:t>The PS module contains the dual-core ARM Cortex-A9 processor.</a:t>
            </a:r>
          </a:p>
          <a:p>
            <a:pPr algn="just"/>
            <a:r>
              <a:rPr lang="en-US" dirty="0">
                <a:latin typeface="Times New Roman" panose="02020603050405020304" pitchFamily="18" charset="0"/>
                <a:cs typeface="Times New Roman" panose="02020603050405020304" pitchFamily="18" charset="0"/>
              </a:rPr>
              <a:t>It manages DDR3 memory, handles standard peripherals like USB, Ethernet, SD card, UART, SPI, I2C, and operates the software side of applications.</a:t>
            </a:r>
          </a:p>
          <a:p>
            <a:pPr algn="just"/>
            <a:r>
              <a:rPr lang="en-US" b="1" dirty="0">
                <a:latin typeface="Times New Roman" panose="02020603050405020304" pitchFamily="18" charset="0"/>
                <a:cs typeface="Times New Roman" panose="02020603050405020304" pitchFamily="18" charset="0"/>
              </a:rPr>
              <a:t>Programmable Logic (PL):</a:t>
            </a:r>
          </a:p>
          <a:p>
            <a:pPr algn="just"/>
            <a:r>
              <a:rPr lang="en-US" dirty="0">
                <a:latin typeface="Times New Roman" panose="02020603050405020304" pitchFamily="18" charset="0"/>
                <a:cs typeface="Times New Roman" panose="02020603050405020304" pitchFamily="18" charset="0"/>
              </a:rPr>
              <a:t>The PL section is essentially an Artix-7 class FPGA, offering extensive custom hardware acceleration capabilities.</a:t>
            </a:r>
          </a:p>
          <a:p>
            <a:pPr algn="just"/>
            <a:r>
              <a:rPr lang="en-US" dirty="0">
                <a:latin typeface="Times New Roman" panose="02020603050405020304" pitchFamily="18" charset="0"/>
                <a:cs typeface="Times New Roman" panose="02020603050405020304" pitchFamily="18" charset="0"/>
              </a:rPr>
              <a:t>It implements custom logic circuits, hardware accelerators, signal processing, or parallel execution features, all programmable and accessible via Python APIs when using PYNQ.</a:t>
            </a:r>
          </a:p>
          <a:p>
            <a:pPr algn="just"/>
            <a:r>
              <a:rPr lang="en-US" dirty="0">
                <a:latin typeface="Times New Roman" panose="02020603050405020304" pitchFamily="18" charset="0"/>
                <a:cs typeface="Times New Roman" panose="02020603050405020304" pitchFamily="18" charset="0"/>
              </a:rPr>
              <a:t>The PL can interface directly to I/O (such as LEDs, switches, HDMI, </a:t>
            </a:r>
            <a:r>
              <a:rPr lang="en-US" dirty="0" err="1">
                <a:latin typeface="Times New Roman" panose="02020603050405020304" pitchFamily="18" charset="0"/>
                <a:cs typeface="Times New Roman" panose="02020603050405020304" pitchFamily="18" charset="0"/>
              </a:rPr>
              <a:t>Pmod</a:t>
            </a:r>
            <a:r>
              <a:rPr lang="en-US" dirty="0">
                <a:latin typeface="Times New Roman" panose="02020603050405020304" pitchFamily="18" charset="0"/>
                <a:cs typeface="Times New Roman" panose="02020603050405020304" pitchFamily="18" charset="0"/>
              </a:rPr>
              <a:t> ports), offering high-performance, low-latency control and hardware-level speed.</a:t>
            </a:r>
          </a:p>
          <a:p>
            <a:endParaRPr lang="en-IN" dirty="0"/>
          </a:p>
        </p:txBody>
      </p:sp>
    </p:spTree>
    <p:extLst>
      <p:ext uri="{BB962C8B-B14F-4D97-AF65-F5344CB8AC3E}">
        <p14:creationId xmlns:p14="http://schemas.microsoft.com/office/powerpoint/2010/main" val="18114174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86CAC-ADC5-257E-A0CD-82DC29CD76AE}"/>
              </a:ext>
            </a:extLst>
          </p:cNvPr>
          <p:cNvSpPr>
            <a:spLocks noGrp="1"/>
          </p:cNvSpPr>
          <p:nvPr>
            <p:ph type="title"/>
          </p:nvPr>
        </p:nvSpPr>
        <p:spPr/>
        <p:txBody>
          <a:bodyPr>
            <a:normAutofit/>
          </a:bodyPr>
          <a:lstStyle/>
          <a:p>
            <a:r>
              <a:rPr lang="en-IN" b="1" dirty="0">
                <a:latin typeface="Times New Roman" panose="02020603050405020304" pitchFamily="18" charset="0"/>
                <a:cs typeface="Times New Roman" panose="02020603050405020304" pitchFamily="18" charset="0"/>
              </a:rPr>
              <a:t>PS-PL Integration</a:t>
            </a:r>
          </a:p>
        </p:txBody>
      </p:sp>
      <p:sp>
        <p:nvSpPr>
          <p:cNvPr id="3" name="Content Placeholder 2">
            <a:extLst>
              <a:ext uri="{FF2B5EF4-FFF2-40B4-BE49-F238E27FC236}">
                <a16:creationId xmlns:a16="http://schemas.microsoft.com/office/drawing/2014/main" id="{FBE04EC0-BBA4-3348-A4AF-9361FC02CAE9}"/>
              </a:ext>
            </a:extLst>
          </p:cNvPr>
          <p:cNvSpPr>
            <a:spLocks noGrp="1"/>
          </p:cNvSpPr>
          <p:nvPr>
            <p:ph sz="quarter" idx="1"/>
          </p:nvPr>
        </p:nvSpPr>
        <p:spPr>
          <a:xfrm>
            <a:off x="1219200" y="1456944"/>
            <a:ext cx="10363200" cy="4572000"/>
          </a:xfrm>
        </p:spPr>
        <p:txBody>
          <a:bodyPr>
            <a:normAutofit/>
          </a:bodyPr>
          <a:lstStyle/>
          <a:p>
            <a:r>
              <a:rPr lang="en-US" sz="2400" dirty="0">
                <a:latin typeface="Times New Roman" panose="02020603050405020304" pitchFamily="18" charset="0"/>
                <a:cs typeface="Times New Roman" panose="02020603050405020304" pitchFamily="18" charset="0"/>
              </a:rPr>
              <a:t>The PS and PL are tightly integrated and communicate via high-bandwidth AXI interfaces (Advanced </a:t>
            </a:r>
            <a:r>
              <a:rPr lang="en-US" sz="2400" dirty="0" err="1">
                <a:latin typeface="Times New Roman" panose="02020603050405020304" pitchFamily="18" charset="0"/>
                <a:cs typeface="Times New Roman" panose="02020603050405020304" pitchFamily="18" charset="0"/>
              </a:rPr>
              <a:t>eXtensible</a:t>
            </a:r>
            <a:r>
              <a:rPr lang="en-US" sz="2400" dirty="0">
                <a:latin typeface="Times New Roman" panose="02020603050405020304" pitchFamily="18" charset="0"/>
                <a:cs typeface="Times New Roman" panose="02020603050405020304" pitchFamily="18" charset="0"/>
              </a:rPr>
              <a:t> Interface).</a:t>
            </a:r>
          </a:p>
          <a:p>
            <a:r>
              <a:rPr lang="en-US" sz="2400" dirty="0">
                <a:latin typeface="Times New Roman" panose="02020603050405020304" pitchFamily="18" charset="0"/>
                <a:cs typeface="Times New Roman" panose="02020603050405020304" pitchFamily="18" charset="0"/>
              </a:rPr>
              <a:t>Software running on the ARM processor in the PS can dynamically configure logic functions in the PL, enabling on-the-fly hardware acceleration and adaptable embedded system architectures.</a:t>
            </a:r>
          </a:p>
          <a:p>
            <a:r>
              <a:rPr lang="en-US" sz="2400" dirty="0">
                <a:latin typeface="Times New Roman" panose="02020603050405020304" pitchFamily="18" charset="0"/>
                <a:cs typeface="Times New Roman" panose="02020603050405020304" pitchFamily="18" charset="0"/>
              </a:rPr>
              <a:t>The PYNQ-Z2 board leverages the synergy between a conventional processor (PS) and programmable hardware (PL) for flexible, powerful embedded system applications, all accessible using Python.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0437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67E78-35C2-5C85-96E8-2250E0F6AE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91B57C-E525-3FE5-4E75-13F0389C3611}"/>
              </a:ext>
            </a:extLst>
          </p:cNvPr>
          <p:cNvSpPr>
            <a:spLocks noGrp="1"/>
          </p:cNvSpPr>
          <p:nvPr>
            <p:ph type="title"/>
          </p:nvPr>
        </p:nvSpPr>
        <p:spPr>
          <a:xfrm>
            <a:off x="527304" y="575437"/>
            <a:ext cx="10515600" cy="1061339"/>
          </a:xfrm>
        </p:spPr>
        <p:txBody>
          <a:bodyPr/>
          <a:lstStyle/>
          <a:p>
            <a:r>
              <a:rPr lang="en-IN" b="1" dirty="0">
                <a:latin typeface="Times New Roman" panose="02020603050405020304" pitchFamily="18" charset="0"/>
                <a:cs typeface="Times New Roman" panose="02020603050405020304" pitchFamily="18" charset="0"/>
              </a:rPr>
              <a:t>Tools &amp; Libraries:</a:t>
            </a:r>
          </a:p>
        </p:txBody>
      </p:sp>
      <p:sp>
        <p:nvSpPr>
          <p:cNvPr id="14" name="Rectangle 11">
            <a:extLst>
              <a:ext uri="{FF2B5EF4-FFF2-40B4-BE49-F238E27FC236}">
                <a16:creationId xmlns:a16="http://schemas.microsoft.com/office/drawing/2014/main" id="{F8C90384-4623-27FC-0E5A-DCF331CA06AA}"/>
              </a:ext>
            </a:extLst>
          </p:cNvPr>
          <p:cNvSpPr>
            <a:spLocks noGrp="1" noChangeArrowheads="1"/>
          </p:cNvSpPr>
          <p:nvPr>
            <p:ph sz="quarter" idx="1"/>
          </p:nvPr>
        </p:nvSpPr>
        <p:spPr bwMode="auto">
          <a:xfrm>
            <a:off x="527304" y="1705096"/>
            <a:ext cx="11137392" cy="13460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400" b="1" dirty="0">
                <a:latin typeface="Times New Roman" panose="02020603050405020304" pitchFamily="18" charset="0"/>
                <a:cs typeface="Times New Roman" panose="02020603050405020304" pitchFamily="18" charset="0"/>
              </a:rPr>
              <a:t>Libraries:</a:t>
            </a:r>
            <a:r>
              <a:rPr lang="en-IN" sz="2400" dirty="0">
                <a:latin typeface="Times New Roman" panose="02020603050405020304" pitchFamily="18" charset="0"/>
                <a:cs typeface="Times New Roman" panose="02020603050405020304" pitchFamily="18" charset="0"/>
              </a:rPr>
              <a:t> cv2, PIL, </a:t>
            </a:r>
            <a:r>
              <a:rPr lang="en-IN" sz="2400" dirty="0" err="1">
                <a:latin typeface="Times New Roman" panose="02020603050405020304" pitchFamily="18" charset="0"/>
                <a:cs typeface="Times New Roman" panose="02020603050405020304" pitchFamily="18" charset="0"/>
              </a:rPr>
              <a:t>scipy.nd</a:t>
            </a:r>
            <a:r>
              <a:rPr lang="en-IN" sz="2400" dirty="0">
                <a:latin typeface="Times New Roman" panose="02020603050405020304" pitchFamily="18" charset="0"/>
                <a:cs typeface="Times New Roman" panose="02020603050405020304" pitchFamily="18" charset="0"/>
              </a:rPr>
              <a:t> image, PYNQ</a:t>
            </a:r>
          </a:p>
          <a:p>
            <a:r>
              <a:rPr lang="en-IN" sz="2400" b="1" dirty="0">
                <a:latin typeface="Times New Roman" panose="02020603050405020304" pitchFamily="18" charset="0"/>
                <a:cs typeface="Times New Roman" panose="02020603050405020304" pitchFamily="18" charset="0"/>
              </a:rPr>
              <a:t>Hardware:</a:t>
            </a:r>
            <a:r>
              <a:rPr lang="en-IN" sz="2400" dirty="0">
                <a:latin typeface="Times New Roman" panose="02020603050405020304" pitchFamily="18" charset="0"/>
                <a:cs typeface="Times New Roman" panose="02020603050405020304" pitchFamily="18" charset="0"/>
              </a:rPr>
              <a:t> PYNQ-Z2 FPGA Board, Camera module, External monitor</a:t>
            </a:r>
          </a:p>
          <a:p>
            <a:r>
              <a:rPr lang="en-IN" sz="2400" b="1" dirty="0">
                <a:latin typeface="Times New Roman" panose="02020603050405020304" pitchFamily="18" charset="0"/>
                <a:cs typeface="Times New Roman" panose="02020603050405020304" pitchFamily="18" charset="0"/>
              </a:rPr>
              <a:t>Software:</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Vivado</a:t>
            </a:r>
            <a:r>
              <a:rPr lang="en-IN" sz="2400" dirty="0">
                <a:latin typeface="Times New Roman" panose="02020603050405020304" pitchFamily="18" charset="0"/>
                <a:cs typeface="Times New Roman" panose="02020603050405020304" pitchFamily="18" charset="0"/>
              </a:rPr>
              <a:t>, Python</a:t>
            </a:r>
          </a:p>
        </p:txBody>
      </p:sp>
    </p:spTree>
    <p:extLst>
      <p:ext uri="{BB962C8B-B14F-4D97-AF65-F5344CB8AC3E}">
        <p14:creationId xmlns:p14="http://schemas.microsoft.com/office/powerpoint/2010/main" val="9929546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D3FB4-B6C2-5424-EC40-51031297183E}"/>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FLOW CHART:</a:t>
            </a:r>
          </a:p>
        </p:txBody>
      </p:sp>
      <p:pic>
        <p:nvPicPr>
          <p:cNvPr id="5" name="Content Placeholder 4">
            <a:extLst>
              <a:ext uri="{FF2B5EF4-FFF2-40B4-BE49-F238E27FC236}">
                <a16:creationId xmlns:a16="http://schemas.microsoft.com/office/drawing/2014/main" id="{A287AA0C-585E-BEB5-BB47-E200E993217E}"/>
              </a:ext>
            </a:extLst>
          </p:cNvPr>
          <p:cNvPicPr>
            <a:picLocks noGrp="1" noChangeAspect="1"/>
          </p:cNvPicPr>
          <p:nvPr>
            <p:ph sz="quarter" idx="1"/>
          </p:nvPr>
        </p:nvPicPr>
        <p:blipFill>
          <a:blip r:embed="rId2" cstate="print"/>
          <a:stretch>
            <a:fillRect/>
          </a:stretch>
        </p:blipFill>
        <p:spPr>
          <a:xfrm>
            <a:off x="2971800" y="1447800"/>
            <a:ext cx="6858000" cy="4572000"/>
          </a:xfrm>
          <a:prstGeom prst="rect">
            <a:avLst/>
          </a:prstGeom>
        </p:spPr>
      </p:pic>
      <p:sp>
        <p:nvSpPr>
          <p:cNvPr id="3" name="Rectangle 2">
            <a:extLst>
              <a:ext uri="{FF2B5EF4-FFF2-40B4-BE49-F238E27FC236}">
                <a16:creationId xmlns:a16="http://schemas.microsoft.com/office/drawing/2014/main" id="{95FF7B90-91A7-D848-F0D7-6CF2C5D5CDB2}"/>
              </a:ext>
            </a:extLst>
          </p:cNvPr>
          <p:cNvSpPr/>
          <p:nvPr/>
        </p:nvSpPr>
        <p:spPr>
          <a:xfrm>
            <a:off x="5843016" y="3310128"/>
            <a:ext cx="164592" cy="2103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319650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80AE7-E3AC-5758-B99E-EFD8FFE0D8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E45423-13F4-D4EE-0EB2-94DBC0CF0481}"/>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BLOCK DIAGRAM:</a:t>
            </a:r>
          </a:p>
        </p:txBody>
      </p:sp>
      <p:sp>
        <p:nvSpPr>
          <p:cNvPr id="3" name="Rectangle 2">
            <a:extLst>
              <a:ext uri="{FF2B5EF4-FFF2-40B4-BE49-F238E27FC236}">
                <a16:creationId xmlns:a16="http://schemas.microsoft.com/office/drawing/2014/main" id="{9AD54031-85F3-F362-3EF0-5D57C387C518}"/>
              </a:ext>
            </a:extLst>
          </p:cNvPr>
          <p:cNvSpPr/>
          <p:nvPr/>
        </p:nvSpPr>
        <p:spPr>
          <a:xfrm>
            <a:off x="5843016" y="3310128"/>
            <a:ext cx="164592" cy="2103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a:extLst>
              <a:ext uri="{FF2B5EF4-FFF2-40B4-BE49-F238E27FC236}">
                <a16:creationId xmlns:a16="http://schemas.microsoft.com/office/drawing/2014/main" id="{6F519D42-BE08-C205-50DB-85B880F637CD}"/>
              </a:ext>
            </a:extLst>
          </p:cNvPr>
          <p:cNvPicPr>
            <a:picLocks noChangeAspect="1"/>
          </p:cNvPicPr>
          <p:nvPr/>
        </p:nvPicPr>
        <p:blipFill>
          <a:blip r:embed="rId2"/>
          <a:stretch>
            <a:fillRect/>
          </a:stretch>
        </p:blipFill>
        <p:spPr>
          <a:xfrm>
            <a:off x="2280666" y="1417638"/>
            <a:ext cx="6630924" cy="4420616"/>
          </a:xfrm>
          <a:prstGeom prst="rect">
            <a:avLst/>
          </a:prstGeom>
        </p:spPr>
      </p:pic>
      <p:sp>
        <p:nvSpPr>
          <p:cNvPr id="9" name="Rectangle 8">
            <a:extLst>
              <a:ext uri="{FF2B5EF4-FFF2-40B4-BE49-F238E27FC236}">
                <a16:creationId xmlns:a16="http://schemas.microsoft.com/office/drawing/2014/main" id="{5930736B-C147-06B1-D001-B93E7C7412EF}"/>
              </a:ext>
            </a:extLst>
          </p:cNvPr>
          <p:cNvSpPr/>
          <p:nvPr/>
        </p:nvSpPr>
        <p:spPr>
          <a:xfrm>
            <a:off x="2843784" y="1636776"/>
            <a:ext cx="5486400" cy="4572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3442293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7207B-AC2D-3F4E-0C3A-DB116C9AE3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336E9B-5D8B-5B96-6808-4C37BB646F7C}"/>
              </a:ext>
            </a:extLst>
          </p:cNvPr>
          <p:cNvSpPr>
            <a:spLocks noGrp="1"/>
          </p:cNvSpPr>
          <p:nvPr>
            <p:ph type="title"/>
          </p:nvPr>
        </p:nvSpPr>
        <p:spPr>
          <a:xfrm>
            <a:off x="502920" y="0"/>
            <a:ext cx="10363200" cy="1143000"/>
          </a:xfrm>
        </p:spPr>
        <p:txBody>
          <a:bodyPr/>
          <a:lstStyle/>
          <a:p>
            <a:r>
              <a:rPr lang="en-IN" b="1" dirty="0">
                <a:latin typeface="Times New Roman" panose="02020603050405020304" pitchFamily="18" charset="0"/>
                <a:cs typeface="Times New Roman" panose="02020603050405020304" pitchFamily="18" charset="0"/>
              </a:rPr>
              <a:t>Sobel Working Principle :</a:t>
            </a:r>
          </a:p>
        </p:txBody>
      </p:sp>
      <p:sp>
        <p:nvSpPr>
          <p:cNvPr id="25" name="Content Placeholder 24">
            <a:extLst>
              <a:ext uri="{FF2B5EF4-FFF2-40B4-BE49-F238E27FC236}">
                <a16:creationId xmlns:a16="http://schemas.microsoft.com/office/drawing/2014/main" id="{BDB8BB86-0A77-A154-B4CA-FCB1B3F007E0}"/>
              </a:ext>
            </a:extLst>
          </p:cNvPr>
          <p:cNvSpPr>
            <a:spLocks noGrp="1"/>
          </p:cNvSpPr>
          <p:nvPr>
            <p:ph sz="quarter" idx="1"/>
          </p:nvPr>
        </p:nvSpPr>
        <p:spPr>
          <a:xfrm>
            <a:off x="606552" y="1143000"/>
            <a:ext cx="11082528" cy="5209032"/>
          </a:xfrm>
        </p:spPr>
        <p:txBody>
          <a:bodyPr>
            <a:normAutofit fontScale="92500" lnSpcReduction="10000"/>
          </a:bodyPr>
          <a:lstStyle/>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project uses a </a:t>
            </a:r>
            <a:r>
              <a:rPr lang="en-US" sz="2400" b="1" dirty="0">
                <a:latin typeface="Times New Roman" panose="02020603050405020304" pitchFamily="18" charset="0"/>
                <a:cs typeface="Times New Roman" panose="02020603050405020304" pitchFamily="18" charset="0"/>
              </a:rPr>
              <a:t>Pynq-Z2 board </a:t>
            </a:r>
            <a:r>
              <a:rPr lang="en-US" sz="2400" dirty="0">
                <a:latin typeface="Times New Roman" panose="02020603050405020304" pitchFamily="18" charset="0"/>
                <a:cs typeface="Times New Roman" panose="02020603050405020304" pitchFamily="18" charset="0"/>
              </a:rPr>
              <a:t>with a webcam as input and HDMI monitor as output.</a:t>
            </a:r>
          </a:p>
          <a:p>
            <a:r>
              <a:rPr lang="en-US" sz="2400" dirty="0">
                <a:latin typeface="Times New Roman" panose="02020603050405020304" pitchFamily="18" charset="0"/>
                <a:cs typeface="Times New Roman" panose="02020603050405020304" pitchFamily="18" charset="0"/>
              </a:rPr>
              <a:t>Captured images are first converted to grayscale and then processed using </a:t>
            </a:r>
            <a:r>
              <a:rPr lang="en-US" sz="2400" b="1" dirty="0">
                <a:latin typeface="Times New Roman" panose="02020603050405020304" pitchFamily="18" charset="0"/>
                <a:cs typeface="Times New Roman" panose="02020603050405020304" pitchFamily="18" charset="0"/>
              </a:rPr>
              <a:t>Sobel filters</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Two custom hardware IPs (Sobel X and Sobel Y) compute gradients in </a:t>
            </a:r>
            <a:r>
              <a:rPr lang="en-US" sz="2400" b="1" dirty="0">
                <a:latin typeface="Times New Roman" panose="02020603050405020304" pitchFamily="18" charset="0"/>
                <a:cs typeface="Times New Roman" panose="02020603050405020304" pitchFamily="18" charset="0"/>
              </a:rPr>
              <a:t>vertical</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horizontal </a:t>
            </a:r>
            <a:r>
              <a:rPr lang="en-US" sz="2400" dirty="0">
                <a:latin typeface="Times New Roman" panose="02020603050405020304" pitchFamily="18" charset="0"/>
                <a:cs typeface="Times New Roman" panose="02020603050405020304" pitchFamily="18" charset="0"/>
              </a:rPr>
              <a:t>directions simultaneously.</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Both run in parallel for high-speed convolution.</a:t>
            </a:r>
          </a:p>
          <a:p>
            <a:r>
              <a:rPr lang="en-US" sz="2400" dirty="0">
                <a:latin typeface="Times New Roman" panose="02020603050405020304" pitchFamily="18" charset="0"/>
                <a:cs typeface="Times New Roman" panose="02020603050405020304" pitchFamily="18" charset="0"/>
              </a:rPr>
              <a:t>The filtered image data is transferred between </a:t>
            </a:r>
            <a:r>
              <a:rPr lang="en-US" sz="2400" b="1" dirty="0">
                <a:latin typeface="Times New Roman" panose="02020603050405020304" pitchFamily="18" charset="0"/>
                <a:cs typeface="Times New Roman" panose="02020603050405020304" pitchFamily="18" charset="0"/>
              </a:rPr>
              <a:t>Processing System (PS) and Programmable Logic (PL) </a:t>
            </a:r>
            <a:r>
              <a:rPr lang="en-US" sz="2400" dirty="0">
                <a:latin typeface="Times New Roman" panose="02020603050405020304" pitchFamily="18" charset="0"/>
                <a:cs typeface="Times New Roman" panose="02020603050405020304" pitchFamily="18" charset="0"/>
              </a:rPr>
              <a:t>using</a:t>
            </a:r>
            <a:r>
              <a:rPr lang="en-US" sz="2400" b="1" dirty="0">
                <a:latin typeface="Times New Roman" panose="02020603050405020304" pitchFamily="18" charset="0"/>
                <a:cs typeface="Times New Roman" panose="02020603050405020304" pitchFamily="18" charset="0"/>
              </a:rPr>
              <a:t> AXI DMA.</a:t>
            </a:r>
          </a:p>
          <a:p>
            <a:r>
              <a:rPr lang="en-US" sz="2400" dirty="0">
                <a:latin typeface="Times New Roman" panose="02020603050405020304" pitchFamily="18" charset="0"/>
                <a:cs typeface="Times New Roman" panose="02020603050405020304" pitchFamily="18" charset="0"/>
              </a:rPr>
              <a:t>The gradient magnitude is calculated as:</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          G = \sqrt{(</a:t>
            </a:r>
            <a:r>
              <a:rPr lang="en-US" sz="2400" b="1" dirty="0" err="1">
                <a:latin typeface="Times New Roman" panose="02020603050405020304" pitchFamily="18" charset="0"/>
                <a:cs typeface="Times New Roman" panose="02020603050405020304" pitchFamily="18" charset="0"/>
              </a:rPr>
              <a:t>Sobel_x</a:t>
            </a:r>
            <a:r>
              <a:rPr lang="en-US" sz="2400" b="1" dirty="0">
                <a:latin typeface="Times New Roman" panose="02020603050405020304" pitchFamily="18" charset="0"/>
                <a:cs typeface="Times New Roman" panose="02020603050405020304" pitchFamily="18" charset="0"/>
              </a:rPr>
              <a:t>)^2 + (</a:t>
            </a:r>
            <a:r>
              <a:rPr lang="en-US" sz="2400" b="1" dirty="0" err="1">
                <a:latin typeface="Times New Roman" panose="02020603050405020304" pitchFamily="18" charset="0"/>
                <a:cs typeface="Times New Roman" panose="02020603050405020304" pitchFamily="18" charset="0"/>
              </a:rPr>
              <a:t>Sobel_y</a:t>
            </a:r>
            <a:r>
              <a:rPr lang="en-US" sz="2400" b="1" dirty="0">
                <a:latin typeface="Times New Roman" panose="02020603050405020304" pitchFamily="18" charset="0"/>
                <a:cs typeface="Times New Roman" panose="02020603050405020304" pitchFamily="18" charset="0"/>
              </a:rPr>
              <a:t>)^2}</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Processed edge-detected images are then displayed on the monitor via HDMI.</a:t>
            </a:r>
          </a:p>
        </p:txBody>
      </p:sp>
    </p:spTree>
    <p:extLst>
      <p:ext uri="{BB962C8B-B14F-4D97-AF65-F5344CB8AC3E}">
        <p14:creationId xmlns:p14="http://schemas.microsoft.com/office/powerpoint/2010/main" val="8330310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72597-4A4F-E921-FCEE-713B33B0ABCC}"/>
              </a:ext>
            </a:extLst>
          </p:cNvPr>
          <p:cNvSpPr>
            <a:spLocks noGrp="1"/>
          </p:cNvSpPr>
          <p:nvPr>
            <p:ph type="title"/>
          </p:nvPr>
        </p:nvSpPr>
        <p:spPr>
          <a:xfrm>
            <a:off x="288758" y="163957"/>
            <a:ext cx="10363200" cy="954505"/>
          </a:xfrm>
        </p:spPr>
        <p:txBody>
          <a:bodyPr/>
          <a:lstStyle/>
          <a:p>
            <a:r>
              <a:rPr lang="en-IN" b="1" dirty="0">
                <a:latin typeface="Times New Roman" panose="02020603050405020304" pitchFamily="18" charset="0"/>
                <a:cs typeface="Times New Roman" panose="02020603050405020304" pitchFamily="18" charset="0"/>
              </a:rPr>
              <a:t>Schematic Diagram: </a:t>
            </a:r>
          </a:p>
        </p:txBody>
      </p:sp>
      <p:pic>
        <p:nvPicPr>
          <p:cNvPr id="7" name="Content Placeholder 6">
            <a:extLst>
              <a:ext uri="{FF2B5EF4-FFF2-40B4-BE49-F238E27FC236}">
                <a16:creationId xmlns:a16="http://schemas.microsoft.com/office/drawing/2014/main" id="{54E19859-0548-FEE9-B651-8A1AF5BF7AC8}"/>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288758" y="1118462"/>
            <a:ext cx="11268943" cy="5630862"/>
          </a:xfrm>
        </p:spPr>
      </p:pic>
    </p:spTree>
    <p:extLst>
      <p:ext uri="{BB962C8B-B14F-4D97-AF65-F5344CB8AC3E}">
        <p14:creationId xmlns:p14="http://schemas.microsoft.com/office/powerpoint/2010/main" val="33394242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941A8-FD14-9A0B-2B20-C9508159CA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3E4198-75D1-D877-9D45-501B840CF9AB}"/>
              </a:ext>
            </a:extLst>
          </p:cNvPr>
          <p:cNvSpPr>
            <a:spLocks noGrp="1"/>
          </p:cNvSpPr>
          <p:nvPr>
            <p:ph type="title"/>
          </p:nvPr>
        </p:nvSpPr>
        <p:spPr>
          <a:xfrm>
            <a:off x="288758" y="163957"/>
            <a:ext cx="10363200" cy="954505"/>
          </a:xfrm>
        </p:spPr>
        <p:txBody>
          <a:bodyPr/>
          <a:lstStyle/>
          <a:p>
            <a:pPr algn="just"/>
            <a:r>
              <a:rPr lang="en-IN" b="1" dirty="0">
                <a:latin typeface="Times New Roman" panose="02020603050405020304" pitchFamily="18" charset="0"/>
                <a:cs typeface="Times New Roman" panose="02020603050405020304" pitchFamily="18" charset="0"/>
              </a:rPr>
              <a:t>Block Explanation: </a:t>
            </a:r>
          </a:p>
        </p:txBody>
      </p:sp>
      <p:sp>
        <p:nvSpPr>
          <p:cNvPr id="4" name="Content Placeholder 3">
            <a:extLst>
              <a:ext uri="{FF2B5EF4-FFF2-40B4-BE49-F238E27FC236}">
                <a16:creationId xmlns:a16="http://schemas.microsoft.com/office/drawing/2014/main" id="{B59146AD-7E39-A3B5-9068-3387FC4C2104}"/>
              </a:ext>
            </a:extLst>
          </p:cNvPr>
          <p:cNvSpPr>
            <a:spLocks noGrp="1"/>
          </p:cNvSpPr>
          <p:nvPr>
            <p:ph sz="quarter" idx="1"/>
          </p:nvPr>
        </p:nvSpPr>
        <p:spPr>
          <a:xfrm>
            <a:off x="557784" y="1271016"/>
            <a:ext cx="11024616" cy="5294376"/>
          </a:xfrm>
        </p:spPr>
        <p:txBody>
          <a:bodyPr>
            <a:normAutofit fontScale="40000" lnSpcReduction="20000"/>
          </a:bodyPr>
          <a:lstStyle/>
          <a:p>
            <a:pPr marL="0" indent="0" algn="just">
              <a:lnSpc>
                <a:spcPct val="120000"/>
              </a:lnSpc>
              <a:buNone/>
            </a:pPr>
            <a:r>
              <a:rPr lang="en-US" sz="4300" b="1" dirty="0">
                <a:latin typeface="Times New Roman" panose="02020603050405020304" pitchFamily="18" charset="0"/>
                <a:cs typeface="Times New Roman" panose="02020603050405020304" pitchFamily="18" charset="0"/>
              </a:rPr>
              <a:t>1. </a:t>
            </a:r>
            <a:r>
              <a:rPr lang="en-US" sz="4500" b="1" dirty="0">
                <a:latin typeface="Times New Roman" panose="02020603050405020304" pitchFamily="18" charset="0"/>
                <a:cs typeface="Times New Roman" panose="02020603050405020304" pitchFamily="18" charset="0"/>
              </a:rPr>
              <a:t>Processing System (ZYNQ7 Processing System)</a:t>
            </a:r>
          </a:p>
          <a:p>
            <a:pPr algn="just">
              <a:lnSpc>
                <a:spcPct val="120000"/>
              </a:lnSpc>
            </a:pPr>
            <a:r>
              <a:rPr lang="en-US" sz="4500" dirty="0">
                <a:latin typeface="Times New Roman" panose="02020603050405020304" pitchFamily="18" charset="0"/>
                <a:cs typeface="Times New Roman" panose="02020603050405020304" pitchFamily="18" charset="0"/>
              </a:rPr>
              <a:t>This is the </a:t>
            </a:r>
            <a:r>
              <a:rPr lang="en-US" sz="4500" b="1" dirty="0">
                <a:latin typeface="Times New Roman" panose="02020603050405020304" pitchFamily="18" charset="0"/>
                <a:cs typeface="Times New Roman" panose="02020603050405020304" pitchFamily="18" charset="0"/>
              </a:rPr>
              <a:t>ARM Cortex-A9 CPU</a:t>
            </a:r>
            <a:r>
              <a:rPr lang="en-US" sz="4500" dirty="0">
                <a:latin typeface="Times New Roman" panose="02020603050405020304" pitchFamily="18" charset="0"/>
                <a:cs typeface="Times New Roman" panose="02020603050405020304" pitchFamily="18" charset="0"/>
              </a:rPr>
              <a:t> and other processing resources inside the PYNQ (Zynq SoC).</a:t>
            </a:r>
          </a:p>
          <a:p>
            <a:pPr algn="just">
              <a:lnSpc>
                <a:spcPct val="120000"/>
              </a:lnSpc>
            </a:pPr>
            <a:r>
              <a:rPr lang="en-US" sz="4500" dirty="0">
                <a:latin typeface="Times New Roman" panose="02020603050405020304" pitchFamily="18" charset="0"/>
                <a:cs typeface="Times New Roman" panose="02020603050405020304" pitchFamily="18" charset="0"/>
              </a:rPr>
              <a:t>Manages software tasks, memory, and controls the hardware accelerators.</a:t>
            </a:r>
          </a:p>
          <a:p>
            <a:pPr algn="just">
              <a:lnSpc>
                <a:spcPct val="120000"/>
              </a:lnSpc>
            </a:pPr>
            <a:r>
              <a:rPr lang="en-US" sz="4500" dirty="0">
                <a:latin typeface="Times New Roman" panose="02020603050405020304" pitchFamily="18" charset="0"/>
                <a:cs typeface="Times New Roman" panose="02020603050405020304" pitchFamily="18" charset="0"/>
              </a:rPr>
              <a:t>Interfaces with DDR memory and peripherals like HDMI.</a:t>
            </a:r>
          </a:p>
          <a:p>
            <a:pPr marL="0" indent="0" algn="just">
              <a:lnSpc>
                <a:spcPct val="120000"/>
              </a:lnSpc>
              <a:buNone/>
            </a:pPr>
            <a:endParaRPr lang="en-US" sz="4500" dirty="0">
              <a:latin typeface="Times New Roman" panose="02020603050405020304" pitchFamily="18" charset="0"/>
              <a:cs typeface="Times New Roman" panose="02020603050405020304" pitchFamily="18" charset="0"/>
            </a:endParaRPr>
          </a:p>
          <a:p>
            <a:pPr marL="0" indent="0" algn="just">
              <a:lnSpc>
                <a:spcPct val="120000"/>
              </a:lnSpc>
              <a:buNone/>
            </a:pPr>
            <a:r>
              <a:rPr lang="en-US" sz="4500" b="1" dirty="0">
                <a:latin typeface="Times New Roman" panose="02020603050405020304" pitchFamily="18" charset="0"/>
                <a:cs typeface="Times New Roman" panose="02020603050405020304" pitchFamily="18" charset="0"/>
              </a:rPr>
              <a:t>2. sobel_x_0 and sobel_y_0 (Custom IP Blocks)</a:t>
            </a:r>
          </a:p>
          <a:p>
            <a:pPr algn="just">
              <a:lnSpc>
                <a:spcPct val="120000"/>
              </a:lnSpc>
            </a:pPr>
            <a:r>
              <a:rPr lang="en-US" sz="4500" dirty="0">
                <a:latin typeface="Times New Roman" panose="02020603050405020304" pitchFamily="18" charset="0"/>
                <a:cs typeface="Times New Roman" panose="02020603050405020304" pitchFamily="18" charset="0"/>
              </a:rPr>
              <a:t>These are </a:t>
            </a:r>
            <a:r>
              <a:rPr lang="en-US" sz="4500" b="1" dirty="0">
                <a:latin typeface="Times New Roman" panose="02020603050405020304" pitchFamily="18" charset="0"/>
                <a:cs typeface="Times New Roman" panose="02020603050405020304" pitchFamily="18" charset="0"/>
              </a:rPr>
              <a:t>custom hardware IPs</a:t>
            </a:r>
            <a:r>
              <a:rPr lang="en-US" sz="4500" dirty="0">
                <a:latin typeface="Times New Roman" panose="02020603050405020304" pitchFamily="18" charset="0"/>
                <a:cs typeface="Times New Roman" panose="02020603050405020304" pitchFamily="18" charset="0"/>
              </a:rPr>
              <a:t> that implement the </a:t>
            </a:r>
            <a:r>
              <a:rPr lang="en-US" sz="4500" b="1" dirty="0">
                <a:latin typeface="Times New Roman" panose="02020603050405020304" pitchFamily="18" charset="0"/>
                <a:cs typeface="Times New Roman" panose="02020603050405020304" pitchFamily="18" charset="0"/>
              </a:rPr>
              <a:t>Sobel filter</a:t>
            </a:r>
            <a:r>
              <a:rPr lang="en-US" sz="4500" dirty="0">
                <a:latin typeface="Times New Roman" panose="02020603050405020304" pitchFamily="18" charset="0"/>
                <a:cs typeface="Times New Roman" panose="02020603050405020304" pitchFamily="18" charset="0"/>
              </a:rPr>
              <a:t> in the X-direction and Y-direction.</a:t>
            </a:r>
          </a:p>
          <a:p>
            <a:pPr algn="just">
              <a:lnSpc>
                <a:spcPct val="120000"/>
              </a:lnSpc>
            </a:pPr>
            <a:r>
              <a:rPr lang="en-US" sz="4500" dirty="0">
                <a:latin typeface="Times New Roman" panose="02020603050405020304" pitchFamily="18" charset="0"/>
                <a:cs typeface="Times New Roman" panose="02020603050405020304" pitchFamily="18" charset="0"/>
              </a:rPr>
              <a:t>They receive pixel data (via AXI-Stream), perform convolution with Sobel kernels, and output edge values.</a:t>
            </a:r>
          </a:p>
          <a:p>
            <a:pPr algn="just">
              <a:lnSpc>
                <a:spcPct val="120000"/>
              </a:lnSpc>
            </a:pPr>
            <a:r>
              <a:rPr lang="en-US" sz="4500" dirty="0">
                <a:latin typeface="Times New Roman" panose="02020603050405020304" pitchFamily="18" charset="0"/>
                <a:cs typeface="Times New Roman" panose="02020603050405020304" pitchFamily="18" charset="0"/>
              </a:rPr>
              <a:t>Together, they calculate the gradient in both directions for edge detection.</a:t>
            </a:r>
          </a:p>
          <a:p>
            <a:pPr marL="0" indent="0" algn="just">
              <a:lnSpc>
                <a:spcPct val="120000"/>
              </a:lnSpc>
              <a:buNone/>
            </a:pPr>
            <a:endParaRPr lang="en-US" sz="4500" dirty="0">
              <a:latin typeface="Times New Roman" panose="02020603050405020304" pitchFamily="18" charset="0"/>
              <a:cs typeface="Times New Roman" panose="02020603050405020304" pitchFamily="18" charset="0"/>
            </a:endParaRPr>
          </a:p>
          <a:p>
            <a:pPr marL="0" indent="0" algn="just">
              <a:lnSpc>
                <a:spcPct val="120000"/>
              </a:lnSpc>
              <a:buNone/>
            </a:pPr>
            <a:r>
              <a:rPr lang="en-US" sz="4500" b="1" dirty="0">
                <a:latin typeface="Times New Roman" panose="02020603050405020304" pitchFamily="18" charset="0"/>
                <a:cs typeface="Times New Roman" panose="02020603050405020304" pitchFamily="18" charset="0"/>
              </a:rPr>
              <a:t>3. </a:t>
            </a:r>
            <a:r>
              <a:rPr lang="en-US" sz="4500" b="1" dirty="0" err="1">
                <a:latin typeface="Times New Roman" panose="02020603050405020304" pitchFamily="18" charset="0"/>
                <a:cs typeface="Times New Roman" panose="02020603050405020304" pitchFamily="18" charset="0"/>
              </a:rPr>
              <a:t>axi_dma_x</a:t>
            </a:r>
            <a:r>
              <a:rPr lang="en-US" sz="4500" b="1" dirty="0">
                <a:latin typeface="Times New Roman" panose="02020603050405020304" pitchFamily="18" charset="0"/>
                <a:cs typeface="Times New Roman" panose="02020603050405020304" pitchFamily="18" charset="0"/>
              </a:rPr>
              <a:t> and </a:t>
            </a:r>
            <a:r>
              <a:rPr lang="en-US" sz="4500" b="1" dirty="0" err="1">
                <a:latin typeface="Times New Roman" panose="02020603050405020304" pitchFamily="18" charset="0"/>
                <a:cs typeface="Times New Roman" panose="02020603050405020304" pitchFamily="18" charset="0"/>
              </a:rPr>
              <a:t>axi_dma_y</a:t>
            </a:r>
            <a:r>
              <a:rPr lang="en-US" sz="4500" b="1" dirty="0">
                <a:latin typeface="Times New Roman" panose="02020603050405020304" pitchFamily="18" charset="0"/>
                <a:cs typeface="Times New Roman" panose="02020603050405020304" pitchFamily="18" charset="0"/>
              </a:rPr>
              <a:t> (AXI Direct Memory Access)</a:t>
            </a:r>
          </a:p>
          <a:p>
            <a:pPr algn="just">
              <a:lnSpc>
                <a:spcPct val="120000"/>
              </a:lnSpc>
            </a:pPr>
            <a:r>
              <a:rPr lang="en-US" sz="4500" b="1" dirty="0">
                <a:latin typeface="Times New Roman" panose="02020603050405020304" pitchFamily="18" charset="0"/>
                <a:cs typeface="Times New Roman" panose="02020603050405020304" pitchFamily="18" charset="0"/>
              </a:rPr>
              <a:t>DMA blocks</a:t>
            </a:r>
            <a:r>
              <a:rPr lang="en-US" sz="4500" dirty="0">
                <a:latin typeface="Times New Roman" panose="02020603050405020304" pitchFamily="18" charset="0"/>
                <a:cs typeface="Times New Roman" panose="02020603050405020304" pitchFamily="18" charset="0"/>
              </a:rPr>
              <a:t> transfer data between </a:t>
            </a:r>
            <a:r>
              <a:rPr lang="en-US" sz="4500" b="1" dirty="0">
                <a:latin typeface="Times New Roman" panose="02020603050405020304" pitchFamily="18" charset="0"/>
                <a:cs typeface="Times New Roman" panose="02020603050405020304" pitchFamily="18" charset="0"/>
              </a:rPr>
              <a:t>DDR memory ↔ Sobel IP blocks</a:t>
            </a:r>
            <a:r>
              <a:rPr lang="en-US" sz="4500" dirty="0">
                <a:latin typeface="Times New Roman" panose="02020603050405020304" pitchFamily="18" charset="0"/>
                <a:cs typeface="Times New Roman" panose="02020603050405020304" pitchFamily="18" charset="0"/>
              </a:rPr>
              <a:t>.</a:t>
            </a:r>
          </a:p>
          <a:p>
            <a:pPr algn="just">
              <a:lnSpc>
                <a:spcPct val="120000"/>
              </a:lnSpc>
            </a:pPr>
            <a:r>
              <a:rPr lang="en-US" sz="4500" dirty="0">
                <a:latin typeface="Times New Roman" panose="02020603050405020304" pitchFamily="18" charset="0"/>
                <a:cs typeface="Times New Roman" panose="02020603050405020304" pitchFamily="18" charset="0"/>
              </a:rPr>
              <a:t>S2MM (Stream to Memory-Mapped): moves processed data (from Sobel filters) back to memory.</a:t>
            </a:r>
          </a:p>
          <a:p>
            <a:pPr algn="just">
              <a:lnSpc>
                <a:spcPct val="120000"/>
              </a:lnSpc>
            </a:pPr>
            <a:r>
              <a:rPr lang="en-US" sz="4500" dirty="0">
                <a:latin typeface="Times New Roman" panose="02020603050405020304" pitchFamily="18" charset="0"/>
                <a:cs typeface="Times New Roman" panose="02020603050405020304" pitchFamily="18" charset="0"/>
              </a:rPr>
              <a:t>MM2S (Memory-Mapped to Stream): sends input image data from memory to Sobel filters.</a:t>
            </a:r>
          </a:p>
          <a:p>
            <a:pPr algn="just">
              <a:lnSpc>
                <a:spcPct val="120000"/>
              </a:lnSpc>
            </a:pPr>
            <a:r>
              <a:rPr lang="en-US" sz="4500" dirty="0">
                <a:latin typeface="Times New Roman" panose="02020603050405020304" pitchFamily="18" charset="0"/>
                <a:cs typeface="Times New Roman" panose="02020603050405020304" pitchFamily="18" charset="0"/>
              </a:rPr>
              <a:t>This avoids CPU overhead and speeds up real-time processing.</a:t>
            </a:r>
          </a:p>
          <a:p>
            <a:pPr algn="just"/>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5194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A0F7F-3D73-BFDF-2D18-CF9E00C738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89CD90-9631-00DF-8E66-4AC84D7D09AD}"/>
              </a:ext>
            </a:extLst>
          </p:cNvPr>
          <p:cNvSpPr>
            <a:spLocks noGrp="1"/>
          </p:cNvSpPr>
          <p:nvPr>
            <p:ph type="title"/>
          </p:nvPr>
        </p:nvSpPr>
        <p:spPr>
          <a:xfrm>
            <a:off x="288758" y="163957"/>
            <a:ext cx="10363200" cy="954505"/>
          </a:xfrm>
        </p:spPr>
        <p:txBody>
          <a:bodyPr/>
          <a:lstStyle/>
          <a:p>
            <a:pPr algn="just"/>
            <a:r>
              <a:rPr lang="en-IN" b="1" dirty="0">
                <a:latin typeface="Times New Roman" panose="02020603050405020304" pitchFamily="18" charset="0"/>
                <a:cs typeface="Times New Roman" panose="02020603050405020304" pitchFamily="18" charset="0"/>
              </a:rPr>
              <a:t>Block Explanation: </a:t>
            </a:r>
          </a:p>
        </p:txBody>
      </p:sp>
      <p:sp>
        <p:nvSpPr>
          <p:cNvPr id="4" name="Content Placeholder 3">
            <a:extLst>
              <a:ext uri="{FF2B5EF4-FFF2-40B4-BE49-F238E27FC236}">
                <a16:creationId xmlns:a16="http://schemas.microsoft.com/office/drawing/2014/main" id="{556E8313-5454-18CC-57FA-735FF52C8BBD}"/>
              </a:ext>
            </a:extLst>
          </p:cNvPr>
          <p:cNvSpPr>
            <a:spLocks noGrp="1"/>
          </p:cNvSpPr>
          <p:nvPr>
            <p:ph sz="quarter" idx="1"/>
          </p:nvPr>
        </p:nvSpPr>
        <p:spPr>
          <a:xfrm>
            <a:off x="390946" y="1118461"/>
            <a:ext cx="11512296" cy="5575581"/>
          </a:xfrm>
        </p:spPr>
        <p:txBody>
          <a:bodyPr>
            <a:normAutofit lnSpcReduction="10000"/>
          </a:bodyPr>
          <a:lstStyle/>
          <a:p>
            <a:pPr marL="0" indent="0" algn="just">
              <a:lnSpc>
                <a:spcPct val="120000"/>
              </a:lnSpc>
              <a:buNone/>
            </a:pPr>
            <a:r>
              <a:rPr lang="en-IN" sz="1800" b="1" dirty="0">
                <a:latin typeface="Times New Roman" panose="02020603050405020304" pitchFamily="18" charset="0"/>
                <a:cs typeface="Times New Roman" panose="02020603050405020304" pitchFamily="18" charset="0"/>
              </a:rPr>
              <a:t>4. AXI SmartConnect (</a:t>
            </a:r>
            <a:r>
              <a:rPr lang="en-IN" sz="1800" b="1" dirty="0" err="1">
                <a:latin typeface="Times New Roman" panose="02020603050405020304" pitchFamily="18" charset="0"/>
                <a:cs typeface="Times New Roman" panose="02020603050405020304" pitchFamily="18" charset="0"/>
              </a:rPr>
              <a:t>axi_smc</a:t>
            </a:r>
            <a:r>
              <a:rPr lang="en-IN" sz="1800" b="1" dirty="0">
                <a:latin typeface="Times New Roman" panose="02020603050405020304" pitchFamily="18" charset="0"/>
                <a:cs typeface="Times New Roman" panose="02020603050405020304" pitchFamily="18" charset="0"/>
              </a:rPr>
              <a:t>_*)</a:t>
            </a:r>
          </a:p>
          <a:p>
            <a:pPr algn="just">
              <a:lnSpc>
                <a:spcPct val="120000"/>
              </a:lnSpc>
            </a:pPr>
            <a:r>
              <a:rPr lang="en-IN" sz="1800" dirty="0">
                <a:latin typeface="Times New Roman" panose="02020603050405020304" pitchFamily="18" charset="0"/>
                <a:cs typeface="Times New Roman" panose="02020603050405020304" pitchFamily="18" charset="0"/>
              </a:rPr>
              <a:t>These blocks handle </a:t>
            </a:r>
            <a:r>
              <a:rPr lang="en-IN" sz="1800" b="1" dirty="0">
                <a:latin typeface="Times New Roman" panose="02020603050405020304" pitchFamily="18" charset="0"/>
                <a:cs typeface="Times New Roman" panose="02020603050405020304" pitchFamily="18" charset="0"/>
              </a:rPr>
              <a:t>interconnections</a:t>
            </a:r>
            <a:r>
              <a:rPr lang="en-IN" sz="1800" dirty="0">
                <a:latin typeface="Times New Roman" panose="02020603050405020304" pitchFamily="18" charset="0"/>
                <a:cs typeface="Times New Roman" panose="02020603050405020304" pitchFamily="18" charset="0"/>
              </a:rPr>
              <a:t> between multiple AXI masters (DMA, PS, Sobel IPs) and slaves (memory, peripherals).</a:t>
            </a:r>
          </a:p>
          <a:p>
            <a:pPr algn="just">
              <a:lnSpc>
                <a:spcPct val="120000"/>
              </a:lnSpc>
            </a:pPr>
            <a:r>
              <a:rPr lang="en-IN" sz="1800" dirty="0">
                <a:latin typeface="Times New Roman" panose="02020603050405020304" pitchFamily="18" charset="0"/>
                <a:cs typeface="Times New Roman" panose="02020603050405020304" pitchFamily="18" charset="0"/>
              </a:rPr>
              <a:t>Basically, they act like </a:t>
            </a:r>
            <a:r>
              <a:rPr lang="en-IN" sz="1800" b="1" dirty="0">
                <a:latin typeface="Times New Roman" panose="02020603050405020304" pitchFamily="18" charset="0"/>
                <a:cs typeface="Times New Roman" panose="02020603050405020304" pitchFamily="18" charset="0"/>
              </a:rPr>
              <a:t>AXI crossbars/routers</a:t>
            </a:r>
            <a:r>
              <a:rPr lang="en-IN" sz="1800" dirty="0">
                <a:latin typeface="Times New Roman" panose="02020603050405020304" pitchFamily="18" charset="0"/>
                <a:cs typeface="Times New Roman" panose="02020603050405020304" pitchFamily="18" charset="0"/>
              </a:rPr>
              <a:t> to ensure smooth communication between all blocks.</a:t>
            </a:r>
          </a:p>
          <a:p>
            <a:pPr marL="0" indent="0" algn="just">
              <a:lnSpc>
                <a:spcPct val="120000"/>
              </a:lnSpc>
              <a:buNone/>
            </a:pPr>
            <a:r>
              <a:rPr lang="en-IN" sz="1800" b="1" dirty="0">
                <a:latin typeface="Times New Roman" panose="02020603050405020304" pitchFamily="18" charset="0"/>
                <a:cs typeface="Times New Roman" panose="02020603050405020304" pitchFamily="18" charset="0"/>
              </a:rPr>
              <a:t>5. mynewfilter_v1_0 (Custom Filter IP – Pre-Production)</a:t>
            </a:r>
          </a:p>
          <a:p>
            <a:pPr algn="just">
              <a:lnSpc>
                <a:spcPct val="120000"/>
              </a:lnSpc>
            </a:pPr>
            <a:r>
              <a:rPr lang="en-IN" sz="1800" dirty="0">
                <a:latin typeface="Times New Roman" panose="02020603050405020304" pitchFamily="18" charset="0"/>
                <a:cs typeface="Times New Roman" panose="02020603050405020304" pitchFamily="18" charset="0"/>
              </a:rPr>
              <a:t>Another </a:t>
            </a:r>
            <a:r>
              <a:rPr lang="en-IN" sz="1800" b="1" dirty="0">
                <a:latin typeface="Times New Roman" panose="02020603050405020304" pitchFamily="18" charset="0"/>
                <a:cs typeface="Times New Roman" panose="02020603050405020304" pitchFamily="18" charset="0"/>
              </a:rPr>
              <a:t>custom IP block</a:t>
            </a:r>
            <a:r>
              <a:rPr lang="en-IN" sz="1800" dirty="0">
                <a:latin typeface="Times New Roman" panose="02020603050405020304" pitchFamily="18" charset="0"/>
                <a:cs typeface="Times New Roman" panose="02020603050405020304" pitchFamily="18" charset="0"/>
              </a:rPr>
              <a:t> you added.</a:t>
            </a:r>
          </a:p>
          <a:p>
            <a:pPr algn="just">
              <a:lnSpc>
                <a:spcPct val="120000"/>
              </a:lnSpc>
            </a:pPr>
            <a:r>
              <a:rPr lang="en-IN" sz="1800" dirty="0">
                <a:latin typeface="Times New Roman" panose="02020603050405020304" pitchFamily="18" charset="0"/>
                <a:cs typeface="Times New Roman" panose="02020603050405020304" pitchFamily="18" charset="0"/>
              </a:rPr>
              <a:t>Likely for combining </a:t>
            </a:r>
            <a:r>
              <a:rPr lang="en-IN" sz="1800" b="1" dirty="0">
                <a:latin typeface="Times New Roman" panose="02020603050405020304" pitchFamily="18" charset="0"/>
                <a:cs typeface="Times New Roman" panose="02020603050405020304" pitchFamily="18" charset="0"/>
              </a:rPr>
              <a:t>Sobel X &amp; Y results</a:t>
            </a:r>
            <a:r>
              <a:rPr lang="en-IN" sz="1800" dirty="0">
                <a:latin typeface="Times New Roman" panose="02020603050405020304" pitchFamily="18" charset="0"/>
                <a:cs typeface="Times New Roman" panose="02020603050405020304" pitchFamily="18" charset="0"/>
              </a:rPr>
              <a:t> (e.g., computing gradient magnitude or thresholding).</a:t>
            </a:r>
          </a:p>
          <a:p>
            <a:pPr algn="just">
              <a:lnSpc>
                <a:spcPct val="120000"/>
              </a:lnSpc>
            </a:pPr>
            <a:r>
              <a:rPr lang="en-IN" sz="1800" dirty="0">
                <a:latin typeface="Times New Roman" panose="02020603050405020304" pitchFamily="18" charset="0"/>
                <a:cs typeface="Times New Roman" panose="02020603050405020304" pitchFamily="18" charset="0"/>
              </a:rPr>
              <a:t>Outputs the final edge-detected image.</a:t>
            </a:r>
          </a:p>
          <a:p>
            <a:pPr marL="0" indent="0" algn="just">
              <a:lnSpc>
                <a:spcPct val="120000"/>
              </a:lnSpc>
              <a:buNone/>
            </a:pPr>
            <a:r>
              <a:rPr lang="en-IN" sz="1800" b="1" dirty="0">
                <a:latin typeface="Times New Roman" panose="02020603050405020304" pitchFamily="18" charset="0"/>
                <a:cs typeface="Times New Roman" panose="02020603050405020304" pitchFamily="18" charset="0"/>
              </a:rPr>
              <a:t>6. Processor System Reset (rst_ps7_0_50M)</a:t>
            </a:r>
          </a:p>
          <a:p>
            <a:pPr algn="just">
              <a:lnSpc>
                <a:spcPct val="120000"/>
              </a:lnSpc>
            </a:pPr>
            <a:r>
              <a:rPr lang="en-IN" sz="1800" dirty="0">
                <a:latin typeface="Times New Roman" panose="02020603050405020304" pitchFamily="18" charset="0"/>
                <a:cs typeface="Times New Roman" panose="02020603050405020304" pitchFamily="18" charset="0"/>
              </a:rPr>
              <a:t>Handles </a:t>
            </a:r>
            <a:r>
              <a:rPr lang="en-IN" sz="1800" b="1" dirty="0">
                <a:latin typeface="Times New Roman" panose="02020603050405020304" pitchFamily="18" charset="0"/>
                <a:cs typeface="Times New Roman" panose="02020603050405020304" pitchFamily="18" charset="0"/>
              </a:rPr>
              <a:t>reset signals</a:t>
            </a:r>
            <a:r>
              <a:rPr lang="en-IN" sz="1800" dirty="0">
                <a:latin typeface="Times New Roman" panose="02020603050405020304" pitchFamily="18" charset="0"/>
                <a:cs typeface="Times New Roman" panose="02020603050405020304" pitchFamily="18" charset="0"/>
              </a:rPr>
              <a:t> across the entire design.</a:t>
            </a:r>
          </a:p>
          <a:p>
            <a:pPr algn="just">
              <a:lnSpc>
                <a:spcPct val="120000"/>
              </a:lnSpc>
            </a:pPr>
            <a:r>
              <a:rPr lang="en-IN" sz="1800" dirty="0">
                <a:latin typeface="Times New Roman" panose="02020603050405020304" pitchFamily="18" charset="0"/>
                <a:cs typeface="Times New Roman" panose="02020603050405020304" pitchFamily="18" charset="0"/>
              </a:rPr>
              <a:t>Ensures all IPs and interconnects start in a known state when the system powers up or resets.</a:t>
            </a:r>
          </a:p>
          <a:p>
            <a:pPr marL="0" indent="0" algn="just">
              <a:lnSpc>
                <a:spcPct val="120000"/>
              </a:lnSpc>
              <a:buNone/>
            </a:pPr>
            <a:r>
              <a:rPr lang="en-IN" sz="1800" b="1" dirty="0">
                <a:latin typeface="Times New Roman" panose="02020603050405020304" pitchFamily="18" charset="0"/>
                <a:cs typeface="Times New Roman" panose="02020603050405020304" pitchFamily="18" charset="0"/>
              </a:rPr>
              <a:t>7. DDR and Fixed IO</a:t>
            </a:r>
          </a:p>
          <a:p>
            <a:pPr algn="just">
              <a:lnSpc>
                <a:spcPct val="120000"/>
              </a:lnSpc>
            </a:pPr>
            <a:r>
              <a:rPr lang="en-IN" sz="1800" dirty="0">
                <a:latin typeface="Times New Roman" panose="02020603050405020304" pitchFamily="18" charset="0"/>
                <a:cs typeface="Times New Roman" panose="02020603050405020304" pitchFamily="18" charset="0"/>
              </a:rPr>
              <a:t>Connections to the external DDR memory and fixed I/O pins (like HDMI, UART, etc.).</a:t>
            </a:r>
          </a:p>
          <a:p>
            <a:pPr algn="just">
              <a:lnSpc>
                <a:spcPct val="120000"/>
              </a:lnSpc>
            </a:pPr>
            <a:r>
              <a:rPr lang="en-IN" sz="1800" dirty="0">
                <a:latin typeface="Times New Roman" panose="02020603050405020304" pitchFamily="18" charset="0"/>
                <a:cs typeface="Times New Roman" panose="02020603050405020304" pitchFamily="18" charset="0"/>
              </a:rPr>
              <a:t>Used to store images and transfer them between software and hardware accelerators.</a:t>
            </a:r>
          </a:p>
        </p:txBody>
      </p:sp>
    </p:spTree>
    <p:extLst>
      <p:ext uri="{BB962C8B-B14F-4D97-AF65-F5344CB8AC3E}">
        <p14:creationId xmlns:p14="http://schemas.microsoft.com/office/powerpoint/2010/main" val="7335236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FAEA1-94CE-48B0-1ABA-F810CD25EE7B}"/>
              </a:ext>
            </a:extLst>
          </p:cNvPr>
          <p:cNvSpPr>
            <a:spLocks noGrp="1"/>
          </p:cNvSpPr>
          <p:nvPr>
            <p:ph type="title"/>
          </p:nvPr>
        </p:nvSpPr>
        <p:spPr>
          <a:xfrm>
            <a:off x="914400" y="296862"/>
            <a:ext cx="10363200" cy="1143000"/>
          </a:xfrm>
        </p:spPr>
        <p:txBody>
          <a:bodyPr/>
          <a:lstStyle/>
          <a:p>
            <a:r>
              <a:rPr lang="en-IN" b="1" dirty="0">
                <a:latin typeface="Times New Roman" panose="02020603050405020304" pitchFamily="18" charset="0"/>
                <a:cs typeface="Times New Roman" panose="02020603050405020304" pitchFamily="18" charset="0"/>
              </a:rPr>
              <a:t>Synthesis Result:</a:t>
            </a:r>
          </a:p>
        </p:txBody>
      </p:sp>
      <p:pic>
        <p:nvPicPr>
          <p:cNvPr id="5" name="Content Placeholder 4">
            <a:extLst>
              <a:ext uri="{FF2B5EF4-FFF2-40B4-BE49-F238E27FC236}">
                <a16:creationId xmlns:a16="http://schemas.microsoft.com/office/drawing/2014/main" id="{2DC56309-5041-70D7-62EA-FF693D690DCF}"/>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7032355" y="1417638"/>
            <a:ext cx="4881657" cy="4572000"/>
          </a:xfrm>
        </p:spPr>
      </p:pic>
      <p:sp>
        <p:nvSpPr>
          <p:cNvPr id="6" name="TextBox 5">
            <a:extLst>
              <a:ext uri="{FF2B5EF4-FFF2-40B4-BE49-F238E27FC236}">
                <a16:creationId xmlns:a16="http://schemas.microsoft.com/office/drawing/2014/main" id="{4C637DC6-F397-2E19-E2DF-85F726DB85AE}"/>
              </a:ext>
            </a:extLst>
          </p:cNvPr>
          <p:cNvSpPr txBox="1"/>
          <p:nvPr/>
        </p:nvSpPr>
        <p:spPr>
          <a:xfrm>
            <a:off x="530352" y="1819656"/>
            <a:ext cx="6236208" cy="4524315"/>
          </a:xfrm>
          <a:prstGeom prst="rect">
            <a:avLst/>
          </a:prstGeom>
          <a:noFill/>
        </p:spPr>
        <p:txBody>
          <a:bodyPr wrap="square" rtlCol="0">
            <a:spAutoFit/>
          </a:bodyPr>
          <a:lstStyle/>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coloured blocks represent areas used for logic (LUTs), flip-flops, DSP slices, and other FPGA resources consumed by your custom modules, DMA, and processing system interconnects.</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Most activity clusters in the central region, indicating that Sobel X and Y IP cores, memory interfaces, and control logic are efficiently packed.</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sparse or unmarked regions show unused FPGA fabric, confirming your design uses only a fraction of available resources, which is typical for a proof-of-concept or phase 1 block-level implementation.</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clear structure and lack of congestion demonstrate a successful place-and-route process, suggesting your block design achieved timing closure and is ready for hardware programming and further testing.</a:t>
            </a:r>
          </a:p>
          <a:p>
            <a:pPr marL="285750" indent="-285750" algn="just">
              <a:buFont typeface="Arial" panose="020B0604020202020204" pitchFamily="34" charset="0"/>
              <a:buChar char="•"/>
            </a:pPr>
            <a:endParaRPr lang="en-IN" dirty="0"/>
          </a:p>
        </p:txBody>
      </p:sp>
    </p:spTree>
    <p:extLst>
      <p:ext uri="{BB962C8B-B14F-4D97-AF65-F5344CB8AC3E}">
        <p14:creationId xmlns:p14="http://schemas.microsoft.com/office/powerpoint/2010/main" val="16649735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D94A0-AAF0-D06F-9A22-6BBE36E258DE}"/>
              </a:ext>
            </a:extLst>
          </p:cNvPr>
          <p:cNvSpPr>
            <a:spLocks noGrp="1"/>
          </p:cNvSpPr>
          <p:nvPr>
            <p:ph type="title"/>
          </p:nvPr>
        </p:nvSpPr>
        <p:spPr>
          <a:xfrm>
            <a:off x="914400" y="231648"/>
            <a:ext cx="10363200" cy="1143000"/>
          </a:xfrm>
        </p:spPr>
        <p:txBody>
          <a:bodyPr/>
          <a:lstStyle/>
          <a:p>
            <a:r>
              <a:rPr lang="en-IN"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65C9D21A-C161-EA76-7E29-622378418AC1}"/>
              </a:ext>
            </a:extLst>
          </p:cNvPr>
          <p:cNvSpPr>
            <a:spLocks noGrp="1"/>
          </p:cNvSpPr>
          <p:nvPr>
            <p:ph sz="quarter" idx="1"/>
          </p:nvPr>
        </p:nvSpPr>
        <p:spPr>
          <a:xfrm>
            <a:off x="914400" y="1658112"/>
            <a:ext cx="10363200" cy="4572000"/>
          </a:xfrm>
        </p:spPr>
        <p:txBody>
          <a:bodyPr/>
          <a:lstStyle/>
          <a:p>
            <a:r>
              <a:rPr lang="en-US" dirty="0"/>
              <a:t>The proposed tasks of the project were: </a:t>
            </a:r>
          </a:p>
          <a:p>
            <a:r>
              <a:rPr lang="en-US" dirty="0"/>
              <a:t>Integrating Webcam with the board to get input images.</a:t>
            </a:r>
          </a:p>
          <a:p>
            <a:r>
              <a:rPr lang="en-US" dirty="0"/>
              <a:t>Implementing Sobel Filter (both x and y) and combining the outputs to obtain gradient for edge detection in HW.</a:t>
            </a:r>
          </a:p>
        </p:txBody>
      </p:sp>
    </p:spTree>
    <p:extLst>
      <p:ext uri="{BB962C8B-B14F-4D97-AF65-F5344CB8AC3E}">
        <p14:creationId xmlns:p14="http://schemas.microsoft.com/office/powerpoint/2010/main" val="7950637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029F2-7498-8CF5-16BE-117C230D55B9}"/>
              </a:ext>
            </a:extLst>
          </p:cNvPr>
          <p:cNvSpPr>
            <a:spLocks noGrp="1"/>
          </p:cNvSpPr>
          <p:nvPr>
            <p:ph type="title"/>
          </p:nvPr>
        </p:nvSpPr>
        <p:spPr>
          <a:xfrm>
            <a:off x="478536" y="304800"/>
            <a:ext cx="10363200" cy="1143000"/>
          </a:xfrm>
        </p:spPr>
        <p:txBody>
          <a:bodyPr/>
          <a:lstStyle/>
          <a:p>
            <a:r>
              <a:rPr lang="en-US" b="1" dirty="0">
                <a:latin typeface="Times New Roman" panose="02020603050405020304" pitchFamily="18" charset="0"/>
                <a:cs typeface="Times New Roman" panose="02020603050405020304" pitchFamily="18" charset="0"/>
              </a:rPr>
              <a:t>REFERENCES: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A2EBAB4-7A1B-2DCC-1EEB-6091EC37DD6E}"/>
              </a:ext>
            </a:extLst>
          </p:cNvPr>
          <p:cNvSpPr>
            <a:spLocks noGrp="1"/>
          </p:cNvSpPr>
          <p:nvPr>
            <p:ph sz="quarter" idx="1"/>
          </p:nvPr>
        </p:nvSpPr>
        <p:spPr>
          <a:xfrm>
            <a:off x="374904" y="1447800"/>
            <a:ext cx="11207496" cy="4815840"/>
          </a:xfrm>
        </p:spPr>
        <p:txBody>
          <a:bodyPr>
            <a:normAutofit fontScale="85000" lnSpcReduction="10000"/>
          </a:bodyPr>
          <a:lstStyle/>
          <a:p>
            <a:pPr algn="just"/>
            <a:r>
              <a:rPr lang="en-IN" dirty="0"/>
              <a:t>[1] Vani, P., Ramesh, K., and Priya, S., “Designing SOBEL Edge Detection Using VLSI on FPGA,” International Journal of Embedded Systems and Applications, vol. 10, no. 2, pp. 145–152, 2022.</a:t>
            </a:r>
          </a:p>
          <a:p>
            <a:pPr algn="just"/>
            <a:r>
              <a:rPr lang="en-IN" dirty="0"/>
              <a:t> [2] Zhang, Y., Lee, H., and Chen, M., “Design and Implementation of Image Edge Detection Algorithm Based on FPGA,” Journal of Real-Time Image Processing, vol. 15, no. 1, pp. 78 89, 2022.</a:t>
            </a:r>
          </a:p>
          <a:p>
            <a:pPr algn="just"/>
            <a:r>
              <a:rPr lang="en-IN" dirty="0"/>
              <a:t> [3] Sharma, A., and Patel, R., “Implementation of SOBEL Edge Detection on FPGA,” International Journal of Computer Trends and Technology (IJCTT), vol. 30, no. 5, pp. 112 118, 2022. </a:t>
            </a:r>
          </a:p>
          <a:p>
            <a:pPr algn="just"/>
            <a:r>
              <a:rPr lang="en-IN" dirty="0"/>
              <a:t>[4] Xilinx Application Note XAPP890, “Sobel Filter in Zynq via </a:t>
            </a:r>
            <a:r>
              <a:rPr lang="en-IN" dirty="0" err="1"/>
              <a:t>Vivado</a:t>
            </a:r>
            <a:r>
              <a:rPr lang="en-IN" dirty="0"/>
              <a:t> HLS,” Xilinx Technical Documentation Series, 2022.</a:t>
            </a:r>
          </a:p>
          <a:p>
            <a:pPr algn="just"/>
            <a:r>
              <a:rPr lang="en-IN" dirty="0"/>
              <a:t> [5] Thomas, L., and Verma, S., “Model-based Design of a High-Throughput Canny on Zynq,” Emerging Technologies in Advanced Signal Research (ETASR), vol. 5, no. 3, pp. 201–215, 2024. </a:t>
            </a:r>
          </a:p>
          <a:p>
            <a:pPr algn="just"/>
            <a:r>
              <a:rPr lang="en-IN" dirty="0"/>
              <a:t>[6] Khan, M., Ali, R., and Das, P., “FPGA Implementation of Sobel Edge Detection,” EAI Transactions on Industrial Electronics, vol. 12, no. 4, pp. 305–320, 2024.</a:t>
            </a:r>
          </a:p>
          <a:p>
            <a:pPr algn="just"/>
            <a:r>
              <a:rPr lang="en-IN" dirty="0"/>
              <a:t> [7] Iyer, N., and Mukherjee, S., “A Novel Sobel Edge Detection Accelerator,” Journal of Reconfigurable Architectures and Systems, vol. 8, no. 2, pp. 95–107, 2022.</a:t>
            </a:r>
          </a:p>
        </p:txBody>
      </p:sp>
    </p:spTree>
    <p:extLst>
      <p:ext uri="{BB962C8B-B14F-4D97-AF65-F5344CB8AC3E}">
        <p14:creationId xmlns:p14="http://schemas.microsoft.com/office/powerpoint/2010/main" val="38300534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D2674-B8AF-F093-8202-F3566F8ABB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FBB4EE-CCE1-E58A-21A9-DB0BCBFA26A5}"/>
              </a:ext>
            </a:extLst>
          </p:cNvPr>
          <p:cNvSpPr>
            <a:spLocks noGrp="1"/>
          </p:cNvSpPr>
          <p:nvPr>
            <p:ph type="title"/>
          </p:nvPr>
        </p:nvSpPr>
        <p:spPr>
          <a:xfrm>
            <a:off x="914400" y="347935"/>
            <a:ext cx="10363200" cy="758634"/>
          </a:xfrm>
        </p:spPr>
        <p:txBody>
          <a:bodyPr/>
          <a:lstStyle/>
          <a:p>
            <a:r>
              <a:rPr lang="en-US" b="1" dirty="0">
                <a:latin typeface="Times New Roman" panose="02020603050405020304" pitchFamily="18" charset="0"/>
                <a:cs typeface="Times New Roman" panose="02020603050405020304" pitchFamily="18" charset="0"/>
              </a:rPr>
              <a:t>R</a:t>
            </a:r>
            <a:r>
              <a:rPr lang="en-IN" b="1" dirty="0" err="1">
                <a:latin typeface="Times New Roman" panose="02020603050405020304" pitchFamily="18" charset="0"/>
                <a:cs typeface="Times New Roman" panose="02020603050405020304" pitchFamily="18" charset="0"/>
              </a:rPr>
              <a:t>esult</a:t>
            </a:r>
            <a:r>
              <a:rPr lang="en-IN" b="1" dirty="0">
                <a:latin typeface="Times New Roman" panose="02020603050405020304" pitchFamily="18" charset="0"/>
                <a:cs typeface="Times New Roman" panose="02020603050405020304" pitchFamily="18" charset="0"/>
              </a:rPr>
              <a:t> and Discussions:</a:t>
            </a:r>
          </a:p>
        </p:txBody>
      </p:sp>
      <p:graphicFrame>
        <p:nvGraphicFramePr>
          <p:cNvPr id="4" name="Content Placeholder 3">
            <a:extLst>
              <a:ext uri="{FF2B5EF4-FFF2-40B4-BE49-F238E27FC236}">
                <a16:creationId xmlns:a16="http://schemas.microsoft.com/office/drawing/2014/main" id="{14690D6E-9040-6E15-FD7C-E0A21DEFE717}"/>
              </a:ext>
            </a:extLst>
          </p:cNvPr>
          <p:cNvGraphicFramePr>
            <a:graphicFrameLocks noGrp="1"/>
          </p:cNvGraphicFramePr>
          <p:nvPr>
            <p:ph sz="quarter" idx="1"/>
            <p:extLst>
              <p:ext uri="{D42A27DB-BD31-4B8C-83A1-F6EECF244321}">
                <p14:modId xmlns:p14="http://schemas.microsoft.com/office/powerpoint/2010/main" val="3053823919"/>
              </p:ext>
            </p:extLst>
          </p:nvPr>
        </p:nvGraphicFramePr>
        <p:xfrm>
          <a:off x="914400" y="1262017"/>
          <a:ext cx="10363200" cy="5172726"/>
        </p:xfrm>
        <a:graphic>
          <a:graphicData uri="http://schemas.openxmlformats.org/drawingml/2006/table">
            <a:tbl>
              <a:tblPr firstRow="1" bandRow="1">
                <a:tableStyleId>{5C22544A-7EE6-4342-B048-85BDC9FD1C3A}</a:tableStyleId>
              </a:tblPr>
              <a:tblGrid>
                <a:gridCol w="1883664">
                  <a:extLst>
                    <a:ext uri="{9D8B030D-6E8A-4147-A177-3AD203B41FA5}">
                      <a16:colId xmlns:a16="http://schemas.microsoft.com/office/drawing/2014/main" val="1065370635"/>
                    </a:ext>
                  </a:extLst>
                </a:gridCol>
                <a:gridCol w="2441448">
                  <a:extLst>
                    <a:ext uri="{9D8B030D-6E8A-4147-A177-3AD203B41FA5}">
                      <a16:colId xmlns:a16="http://schemas.microsoft.com/office/drawing/2014/main" val="499993599"/>
                    </a:ext>
                  </a:extLst>
                </a:gridCol>
                <a:gridCol w="6038088">
                  <a:extLst>
                    <a:ext uri="{9D8B030D-6E8A-4147-A177-3AD203B41FA5}">
                      <a16:colId xmlns:a16="http://schemas.microsoft.com/office/drawing/2014/main" val="1348590528"/>
                    </a:ext>
                  </a:extLst>
                </a:gridCol>
              </a:tblGrid>
              <a:tr h="1064973">
                <a:tc>
                  <a:txBody>
                    <a:bodyPr/>
                    <a:lstStyle/>
                    <a:p>
                      <a:pPr algn="l">
                        <a:buNone/>
                      </a:pPr>
                      <a:r>
                        <a:rPr lang="en-IN" b="1">
                          <a:effectLst/>
                        </a:rPr>
                        <a:t>Aspect</a:t>
                      </a:r>
                    </a:p>
                  </a:txBody>
                  <a:tcPr marL="60960" marR="60960" marT="60960" marB="60960" anchor="ctr"/>
                </a:tc>
                <a:tc>
                  <a:txBody>
                    <a:bodyPr/>
                    <a:lstStyle/>
                    <a:p>
                      <a:pPr algn="l">
                        <a:buNone/>
                      </a:pPr>
                      <a:r>
                        <a:rPr lang="en-IN" b="1">
                          <a:effectLst/>
                        </a:rPr>
                        <a:t>Result/Observation</a:t>
                      </a:r>
                    </a:p>
                  </a:txBody>
                  <a:tcPr marL="60960" marR="60960" marT="60960" marB="60960" anchor="ctr"/>
                </a:tc>
                <a:tc>
                  <a:txBody>
                    <a:bodyPr/>
                    <a:lstStyle/>
                    <a:p>
                      <a:pPr algn="l">
                        <a:buNone/>
                      </a:pPr>
                      <a:r>
                        <a:rPr lang="en-IN" b="1">
                          <a:effectLst/>
                        </a:rPr>
                        <a:t>Discussion/Significance</a:t>
                      </a:r>
                    </a:p>
                  </a:txBody>
                  <a:tcPr marL="60960" marR="60960" marT="60960" marB="60960" anchor="ctr"/>
                </a:tc>
                <a:extLst>
                  <a:ext uri="{0D108BD9-81ED-4DB2-BD59-A6C34878D82A}">
                    <a16:rowId xmlns:a16="http://schemas.microsoft.com/office/drawing/2014/main" val="1234628826"/>
                  </a:ext>
                </a:extLst>
              </a:tr>
              <a:tr h="819210">
                <a:tc>
                  <a:txBody>
                    <a:bodyPr/>
                    <a:lstStyle/>
                    <a:p>
                      <a:pPr algn="l">
                        <a:buNone/>
                      </a:pPr>
                      <a:r>
                        <a:rPr lang="en-IN">
                          <a:effectLst/>
                        </a:rPr>
                        <a:t>Processing Speed</a:t>
                      </a:r>
                    </a:p>
                  </a:txBody>
                  <a:tcPr marL="60960" marR="60960" marT="60960" marB="60960" anchor="ctr"/>
                </a:tc>
                <a:tc>
                  <a:txBody>
                    <a:bodyPr/>
                    <a:lstStyle/>
                    <a:p>
                      <a:pPr algn="l">
                        <a:buNone/>
                      </a:pPr>
                      <a:r>
                        <a:rPr lang="en-IN">
                          <a:effectLst/>
                        </a:rPr>
                        <a:t>&lt; 1 ms per frame (hardware)</a:t>
                      </a:r>
                    </a:p>
                  </a:txBody>
                  <a:tcPr marL="60960" marR="60960" marT="60960" marB="60960" anchor="ctr"/>
                </a:tc>
                <a:tc>
                  <a:txBody>
                    <a:bodyPr/>
                    <a:lstStyle/>
                    <a:p>
                      <a:pPr algn="l">
                        <a:buNone/>
                      </a:pPr>
                      <a:r>
                        <a:rPr lang="en-US">
                          <a:effectLst/>
                        </a:rPr>
                        <a:t>Achieves real-time edge detection for video/image applications.</a:t>
                      </a:r>
                    </a:p>
                  </a:txBody>
                  <a:tcPr marL="60960" marR="60960" marT="60960" marB="60960" anchor="ctr"/>
                </a:tc>
                <a:extLst>
                  <a:ext uri="{0D108BD9-81ED-4DB2-BD59-A6C34878D82A}">
                    <a16:rowId xmlns:a16="http://schemas.microsoft.com/office/drawing/2014/main" val="165208083"/>
                  </a:ext>
                </a:extLst>
              </a:tr>
              <a:tr h="606086">
                <a:tc>
                  <a:txBody>
                    <a:bodyPr/>
                    <a:lstStyle/>
                    <a:p>
                      <a:pPr algn="l">
                        <a:buNone/>
                      </a:pPr>
                      <a:r>
                        <a:rPr lang="en-IN">
                          <a:effectLst/>
                        </a:rPr>
                        <a:t>Resource Utilization</a:t>
                      </a:r>
                    </a:p>
                  </a:txBody>
                  <a:tcPr marL="60960" marR="60960" marT="60960" marB="60960" anchor="ctr"/>
                </a:tc>
                <a:tc>
                  <a:txBody>
                    <a:bodyPr/>
                    <a:lstStyle/>
                    <a:p>
                      <a:pPr algn="l">
                        <a:buNone/>
                      </a:pPr>
                      <a:r>
                        <a:rPr lang="en-IN">
                          <a:effectLst/>
                        </a:rPr>
                        <a:t>&lt; 20% LUTs, FFs, BRAM, DSP on FPGA</a:t>
                      </a:r>
                    </a:p>
                  </a:txBody>
                  <a:tcPr marL="60960" marR="60960" marT="60960" marB="60960" anchor="ctr"/>
                </a:tc>
                <a:tc>
                  <a:txBody>
                    <a:bodyPr/>
                    <a:lstStyle/>
                    <a:p>
                      <a:pPr algn="l">
                        <a:buNone/>
                      </a:pPr>
                      <a:r>
                        <a:rPr lang="en-US" dirty="0">
                          <a:effectLst/>
                        </a:rPr>
                        <a:t>Design is efficient and scalable for larger tasks.</a:t>
                      </a:r>
                    </a:p>
                  </a:txBody>
                  <a:tcPr marL="60960" marR="60960" marT="60960" marB="60960" anchor="ctr"/>
                </a:tc>
                <a:extLst>
                  <a:ext uri="{0D108BD9-81ED-4DB2-BD59-A6C34878D82A}">
                    <a16:rowId xmlns:a16="http://schemas.microsoft.com/office/drawing/2014/main" val="1439102222"/>
                  </a:ext>
                </a:extLst>
              </a:tr>
              <a:tr h="630791">
                <a:tc>
                  <a:txBody>
                    <a:bodyPr/>
                    <a:lstStyle/>
                    <a:p>
                      <a:pPr algn="l">
                        <a:buNone/>
                      </a:pPr>
                      <a:r>
                        <a:rPr lang="en-IN">
                          <a:effectLst/>
                        </a:rPr>
                        <a:t>Power Consumption</a:t>
                      </a:r>
                    </a:p>
                  </a:txBody>
                  <a:tcPr marL="60960" marR="60960" marT="60960" marB="60960" anchor="ctr"/>
                </a:tc>
                <a:tc>
                  <a:txBody>
                    <a:bodyPr/>
                    <a:lstStyle/>
                    <a:p>
                      <a:pPr algn="l">
                        <a:buNone/>
                      </a:pPr>
                      <a:r>
                        <a:rPr lang="en-IN">
                          <a:effectLst/>
                        </a:rPr>
                        <a:t>~1.7 W on-chip</a:t>
                      </a:r>
                    </a:p>
                  </a:txBody>
                  <a:tcPr marL="60960" marR="60960" marT="60960" marB="60960" anchor="ctr"/>
                </a:tc>
                <a:tc>
                  <a:txBody>
                    <a:bodyPr/>
                    <a:lstStyle/>
                    <a:p>
                      <a:pPr algn="l">
                        <a:buNone/>
                      </a:pPr>
                      <a:r>
                        <a:rPr lang="en-US" dirty="0">
                          <a:effectLst/>
                        </a:rPr>
                        <a:t>Suitable for portable and embedded systems.</a:t>
                      </a:r>
                    </a:p>
                  </a:txBody>
                  <a:tcPr marL="60960" marR="60960" marT="60960" marB="60960" anchor="ctr"/>
                </a:tc>
                <a:extLst>
                  <a:ext uri="{0D108BD9-81ED-4DB2-BD59-A6C34878D82A}">
                    <a16:rowId xmlns:a16="http://schemas.microsoft.com/office/drawing/2014/main" val="827674005"/>
                  </a:ext>
                </a:extLst>
              </a:tr>
              <a:tr h="993596">
                <a:tc>
                  <a:txBody>
                    <a:bodyPr/>
                    <a:lstStyle/>
                    <a:p>
                      <a:pPr algn="l">
                        <a:buNone/>
                      </a:pPr>
                      <a:r>
                        <a:rPr lang="en-IN">
                          <a:effectLst/>
                        </a:rPr>
                        <a:t>Output Accuracy</a:t>
                      </a:r>
                    </a:p>
                  </a:txBody>
                  <a:tcPr marL="60960" marR="60960" marT="60960" marB="60960" anchor="ctr"/>
                </a:tc>
                <a:tc>
                  <a:txBody>
                    <a:bodyPr/>
                    <a:lstStyle/>
                    <a:p>
                      <a:pPr algn="l">
                        <a:buNone/>
                      </a:pPr>
                      <a:r>
                        <a:rPr lang="en-US">
                          <a:effectLst/>
                        </a:rPr>
                        <a:t>Hardware closely matches software Sobel results</a:t>
                      </a:r>
                    </a:p>
                  </a:txBody>
                  <a:tcPr marL="60960" marR="60960" marT="60960" marB="60960" anchor="ctr"/>
                </a:tc>
                <a:tc>
                  <a:txBody>
                    <a:bodyPr/>
                    <a:lstStyle/>
                    <a:p>
                      <a:pPr algn="l">
                        <a:buNone/>
                      </a:pPr>
                      <a:r>
                        <a:rPr lang="en-US">
                          <a:effectLst/>
                        </a:rPr>
                        <a:t>Confirms correctness of VHDL implementation.</a:t>
                      </a:r>
                    </a:p>
                  </a:txBody>
                  <a:tcPr marL="60960" marR="60960" marT="60960" marB="60960" anchor="ctr"/>
                </a:tc>
                <a:extLst>
                  <a:ext uri="{0D108BD9-81ED-4DB2-BD59-A6C34878D82A}">
                    <a16:rowId xmlns:a16="http://schemas.microsoft.com/office/drawing/2014/main" val="2868349915"/>
                  </a:ext>
                </a:extLst>
              </a:tr>
              <a:tr h="993596">
                <a:tc>
                  <a:txBody>
                    <a:bodyPr/>
                    <a:lstStyle/>
                    <a:p>
                      <a:pPr algn="l">
                        <a:buNone/>
                      </a:pPr>
                      <a:r>
                        <a:rPr lang="en-IN">
                          <a:effectLst/>
                        </a:rPr>
                        <a:t>Speedup vs. Software</a:t>
                      </a:r>
                    </a:p>
                  </a:txBody>
                  <a:tcPr marL="60960" marR="60960" marT="60960" marB="60960" anchor="ctr"/>
                </a:tc>
                <a:tc>
                  <a:txBody>
                    <a:bodyPr/>
                    <a:lstStyle/>
                    <a:p>
                      <a:pPr algn="l">
                        <a:buNone/>
                      </a:pPr>
                      <a:r>
                        <a:rPr lang="en-US">
                          <a:effectLst/>
                        </a:rPr>
                        <a:t>&gt;200x faster than software implementation</a:t>
                      </a:r>
                    </a:p>
                  </a:txBody>
                  <a:tcPr marL="60960" marR="60960" marT="60960" marB="60960" anchor="ctr"/>
                </a:tc>
                <a:tc>
                  <a:txBody>
                    <a:bodyPr/>
                    <a:lstStyle/>
                    <a:p>
                      <a:pPr algn="l">
                        <a:buNone/>
                      </a:pPr>
                      <a:r>
                        <a:rPr lang="en-US" dirty="0">
                          <a:effectLst/>
                        </a:rPr>
                        <a:t>Hardware acceleration provides a major performance advantage.</a:t>
                      </a:r>
                    </a:p>
                  </a:txBody>
                  <a:tcPr marL="60960" marR="60960" marT="60960" marB="60960" anchor="ctr"/>
                </a:tc>
                <a:extLst>
                  <a:ext uri="{0D108BD9-81ED-4DB2-BD59-A6C34878D82A}">
                    <a16:rowId xmlns:a16="http://schemas.microsoft.com/office/drawing/2014/main" val="2006873500"/>
                  </a:ext>
                </a:extLst>
              </a:tr>
            </a:tbl>
          </a:graphicData>
        </a:graphic>
      </p:graphicFrame>
    </p:spTree>
    <p:extLst>
      <p:ext uri="{BB962C8B-B14F-4D97-AF65-F5344CB8AC3E}">
        <p14:creationId xmlns:p14="http://schemas.microsoft.com/office/powerpoint/2010/main" val="15074994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B448D-1BB6-B0B4-3128-CC1C3A086660}"/>
              </a:ext>
            </a:extLst>
          </p:cNvPr>
          <p:cNvSpPr>
            <a:spLocks noGrp="1"/>
          </p:cNvSpPr>
          <p:nvPr>
            <p:ph type="title"/>
          </p:nvPr>
        </p:nvSpPr>
        <p:spPr>
          <a:xfrm>
            <a:off x="914400" y="201631"/>
            <a:ext cx="10363200" cy="758634"/>
          </a:xfrm>
        </p:spPr>
        <p:txBody>
          <a:bodyPr/>
          <a:lstStyle/>
          <a:p>
            <a:r>
              <a:rPr lang="en-IN" b="1" dirty="0">
                <a:latin typeface="Times New Roman" panose="02020603050405020304" pitchFamily="18" charset="0"/>
                <a:cs typeface="Times New Roman" panose="02020603050405020304" pitchFamily="18" charset="0"/>
              </a:rPr>
              <a:t>Project Progress</a:t>
            </a:r>
          </a:p>
        </p:txBody>
      </p:sp>
      <p:graphicFrame>
        <p:nvGraphicFramePr>
          <p:cNvPr id="4" name="Content Placeholder 3">
            <a:extLst>
              <a:ext uri="{FF2B5EF4-FFF2-40B4-BE49-F238E27FC236}">
                <a16:creationId xmlns:a16="http://schemas.microsoft.com/office/drawing/2014/main" id="{EBD92B66-81A9-1D14-1E05-32E5E10E7778}"/>
              </a:ext>
            </a:extLst>
          </p:cNvPr>
          <p:cNvGraphicFramePr>
            <a:graphicFrameLocks noGrp="1"/>
          </p:cNvGraphicFramePr>
          <p:nvPr>
            <p:ph sz="quarter" idx="1"/>
            <p:extLst>
              <p:ext uri="{D42A27DB-BD31-4B8C-83A1-F6EECF244321}">
                <p14:modId xmlns:p14="http://schemas.microsoft.com/office/powerpoint/2010/main" val="507629065"/>
              </p:ext>
            </p:extLst>
          </p:nvPr>
        </p:nvGraphicFramePr>
        <p:xfrm>
          <a:off x="914400" y="969409"/>
          <a:ext cx="10363200" cy="5370472"/>
        </p:xfrm>
        <a:graphic>
          <a:graphicData uri="http://schemas.openxmlformats.org/drawingml/2006/table">
            <a:tbl>
              <a:tblPr firstRow="1" bandRow="1">
                <a:tableStyleId>{5C22544A-7EE6-4342-B048-85BDC9FD1C3A}</a:tableStyleId>
              </a:tblPr>
              <a:tblGrid>
                <a:gridCol w="1185672">
                  <a:extLst>
                    <a:ext uri="{9D8B030D-6E8A-4147-A177-3AD203B41FA5}">
                      <a16:colId xmlns:a16="http://schemas.microsoft.com/office/drawing/2014/main" val="1065370635"/>
                    </a:ext>
                  </a:extLst>
                </a:gridCol>
                <a:gridCol w="1700784">
                  <a:extLst>
                    <a:ext uri="{9D8B030D-6E8A-4147-A177-3AD203B41FA5}">
                      <a16:colId xmlns:a16="http://schemas.microsoft.com/office/drawing/2014/main" val="499993599"/>
                    </a:ext>
                  </a:extLst>
                </a:gridCol>
                <a:gridCol w="7476744">
                  <a:extLst>
                    <a:ext uri="{9D8B030D-6E8A-4147-A177-3AD203B41FA5}">
                      <a16:colId xmlns:a16="http://schemas.microsoft.com/office/drawing/2014/main" val="1348590528"/>
                    </a:ext>
                  </a:extLst>
                </a:gridCol>
              </a:tblGrid>
              <a:tr h="1064973">
                <a:tc>
                  <a:txBody>
                    <a:bodyPr/>
                    <a:lstStyle/>
                    <a:p>
                      <a:r>
                        <a:rPr lang="en-IN" dirty="0"/>
                        <a:t>Month 1</a:t>
                      </a:r>
                    </a:p>
                  </a:txBody>
                  <a:tcPr/>
                </a:tc>
                <a:tc>
                  <a:txBody>
                    <a:bodyPr/>
                    <a:lstStyle/>
                    <a:p>
                      <a:r>
                        <a:rPr lang="en-IN" dirty="0"/>
                        <a:t>Week 1</a:t>
                      </a:r>
                    </a:p>
                  </a:txBody>
                  <a:tcPr/>
                </a:tc>
                <a:tc>
                  <a:txBody>
                    <a:bodyPr/>
                    <a:lstStyle/>
                    <a:p>
                      <a:r>
                        <a:rPr lang="en-IN" dirty="0"/>
                        <a:t>Tasks Completed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Selected project title: "Edge Detection using FPGA PYNQ Board“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  Title Discuss With Guide.</a:t>
                      </a:r>
                      <a:endParaRPr lang="en-IN" dirty="0"/>
                    </a:p>
                    <a:p>
                      <a:endParaRPr lang="en-IN" dirty="0"/>
                    </a:p>
                  </a:txBody>
                  <a:tcPr/>
                </a:tc>
                <a:extLst>
                  <a:ext uri="{0D108BD9-81ED-4DB2-BD59-A6C34878D82A}">
                    <a16:rowId xmlns:a16="http://schemas.microsoft.com/office/drawing/2014/main" val="1234628826"/>
                  </a:ext>
                </a:extLst>
              </a:tr>
              <a:tr h="819210">
                <a:tc>
                  <a:txBody>
                    <a:bodyPr/>
                    <a:lstStyle/>
                    <a:p>
                      <a:endParaRPr lang="en-IN" dirty="0"/>
                    </a:p>
                  </a:txBody>
                  <a:tcPr/>
                </a:tc>
                <a:tc>
                  <a:txBody>
                    <a:bodyPr/>
                    <a:lstStyle/>
                    <a:p>
                      <a:r>
                        <a:rPr lang="en-IN" dirty="0"/>
                        <a:t>Week 2</a:t>
                      </a:r>
                    </a:p>
                  </a:txBody>
                  <a:tcPr/>
                </a:tc>
                <a:tc>
                  <a:txBody>
                    <a:bodyPr/>
                    <a:lstStyle/>
                    <a:p>
                      <a:r>
                        <a:rPr lang="en-US" dirty="0"/>
                        <a:t>Collected and reviewed literature papers on FPGA image processing and edge detection algorithms (Sobel, Prewitt, Canny).</a:t>
                      </a:r>
                    </a:p>
                    <a:p>
                      <a:r>
                        <a:rPr lang="en-US" dirty="0"/>
                        <a:t>And Selected The Sobel Filter Process.</a:t>
                      </a:r>
                      <a:endParaRPr lang="en-IN" dirty="0"/>
                    </a:p>
                  </a:txBody>
                  <a:tcPr/>
                </a:tc>
                <a:extLst>
                  <a:ext uri="{0D108BD9-81ED-4DB2-BD59-A6C34878D82A}">
                    <a16:rowId xmlns:a16="http://schemas.microsoft.com/office/drawing/2014/main" val="165208083"/>
                  </a:ext>
                </a:extLst>
              </a:tr>
              <a:tr h="606086">
                <a:tc>
                  <a:txBody>
                    <a:bodyPr/>
                    <a:lstStyle/>
                    <a:p>
                      <a:endParaRPr lang="en-IN"/>
                    </a:p>
                  </a:txBody>
                  <a:tcPr/>
                </a:tc>
                <a:tc>
                  <a:txBody>
                    <a:bodyPr/>
                    <a:lstStyle/>
                    <a:p>
                      <a:r>
                        <a:rPr lang="en-IN" dirty="0"/>
                        <a:t>Week 3</a:t>
                      </a:r>
                    </a:p>
                  </a:txBody>
                  <a:tcPr/>
                </a:tc>
                <a:tc>
                  <a:txBody>
                    <a:bodyPr/>
                    <a:lstStyle/>
                    <a:p>
                      <a:r>
                        <a:rPr lang="en-US" dirty="0"/>
                        <a:t>Understood basics of PYNQ board architecture.</a:t>
                      </a:r>
                    </a:p>
                    <a:p>
                      <a:r>
                        <a:rPr lang="en-US" dirty="0"/>
                        <a:t>And FPGA toolchain (Vivado, Jupyter Notebooks).</a:t>
                      </a:r>
                      <a:endParaRPr lang="en-IN" dirty="0"/>
                    </a:p>
                  </a:txBody>
                  <a:tcPr/>
                </a:tc>
                <a:extLst>
                  <a:ext uri="{0D108BD9-81ED-4DB2-BD59-A6C34878D82A}">
                    <a16:rowId xmlns:a16="http://schemas.microsoft.com/office/drawing/2014/main" val="1439102222"/>
                  </a:ext>
                </a:extLst>
              </a:tr>
              <a:tr h="630791">
                <a:tc>
                  <a:txBody>
                    <a:bodyPr/>
                    <a:lstStyle/>
                    <a:p>
                      <a:endParaRPr lang="en-IN"/>
                    </a:p>
                  </a:txBody>
                  <a:tcPr/>
                </a:tc>
                <a:tc>
                  <a:txBody>
                    <a:bodyPr/>
                    <a:lstStyle/>
                    <a:p>
                      <a:r>
                        <a:rPr lang="en-IN" dirty="0"/>
                        <a:t>Week 4</a:t>
                      </a:r>
                    </a:p>
                  </a:txBody>
                  <a:tcPr/>
                </a:tc>
                <a:tc>
                  <a:txBody>
                    <a:bodyPr/>
                    <a:lstStyle/>
                    <a:p>
                      <a:r>
                        <a:rPr lang="en-IN" dirty="0"/>
                        <a:t>Fina</a:t>
                      </a:r>
                      <a:r>
                        <a:rPr lang="en-US" dirty="0"/>
                        <a:t>lized problem statement.</a:t>
                      </a:r>
                    </a:p>
                    <a:p>
                      <a:r>
                        <a:rPr lang="en-US" dirty="0"/>
                        <a:t>And wrote initial project plan.</a:t>
                      </a:r>
                      <a:endParaRPr lang="en-IN" dirty="0"/>
                    </a:p>
                  </a:txBody>
                  <a:tcPr/>
                </a:tc>
                <a:extLst>
                  <a:ext uri="{0D108BD9-81ED-4DB2-BD59-A6C34878D82A}">
                    <a16:rowId xmlns:a16="http://schemas.microsoft.com/office/drawing/2014/main" val="827674005"/>
                  </a:ext>
                </a:extLst>
              </a:tr>
              <a:tr h="993596">
                <a:tc>
                  <a:txBody>
                    <a:bodyPr/>
                    <a:lstStyle/>
                    <a:p>
                      <a:r>
                        <a:rPr lang="en-IN" dirty="0"/>
                        <a:t>Month 2</a:t>
                      </a:r>
                    </a:p>
                  </a:txBody>
                  <a:tcPr/>
                </a:tc>
                <a:tc>
                  <a:txBody>
                    <a:bodyPr/>
                    <a:lstStyle/>
                    <a:p>
                      <a:r>
                        <a:rPr lang="en-IN" dirty="0"/>
                        <a:t>Week 1 &amp; 2</a:t>
                      </a:r>
                    </a:p>
                  </a:txBody>
                  <a:tcPr/>
                </a:tc>
                <a:tc>
                  <a:txBody>
                    <a:bodyPr/>
                    <a:lstStyle/>
                    <a:p>
                      <a:r>
                        <a:rPr lang="en-US" dirty="0"/>
                        <a:t>Collected necessary hardware/software tools (PYNQ board setup, Python libraries, Vivado installation).</a:t>
                      </a:r>
                      <a:endParaRPr lang="en-IN" dirty="0"/>
                    </a:p>
                  </a:txBody>
                  <a:tcPr/>
                </a:tc>
                <a:extLst>
                  <a:ext uri="{0D108BD9-81ED-4DB2-BD59-A6C34878D82A}">
                    <a16:rowId xmlns:a16="http://schemas.microsoft.com/office/drawing/2014/main" val="2868349915"/>
                  </a:ext>
                </a:extLst>
              </a:tr>
              <a:tr h="993596">
                <a:tc>
                  <a:txBody>
                    <a:bodyPr/>
                    <a:lstStyle/>
                    <a:p>
                      <a:endParaRPr lang="en-IN" dirty="0"/>
                    </a:p>
                  </a:txBody>
                  <a:tcPr/>
                </a:tc>
                <a:tc>
                  <a:txBody>
                    <a:bodyPr/>
                    <a:lstStyle/>
                    <a:p>
                      <a:r>
                        <a:rPr lang="en-IN" dirty="0"/>
                        <a:t>Week 3 &amp; 4</a:t>
                      </a:r>
                    </a:p>
                  </a:txBody>
                  <a:tcPr/>
                </a:tc>
                <a:tc>
                  <a:txBody>
                    <a:bodyPr/>
                    <a:lstStyle/>
                    <a:p>
                      <a:r>
                        <a:rPr lang="en-US" dirty="0"/>
                        <a:t>Designing FPGA hardware block for edge detection (Sobel filter) using Vivado.</a:t>
                      </a:r>
                      <a:endParaRPr lang="en-IN" dirty="0"/>
                    </a:p>
                  </a:txBody>
                  <a:tcPr/>
                </a:tc>
                <a:extLst>
                  <a:ext uri="{0D108BD9-81ED-4DB2-BD59-A6C34878D82A}">
                    <a16:rowId xmlns:a16="http://schemas.microsoft.com/office/drawing/2014/main" val="2006873500"/>
                  </a:ext>
                </a:extLst>
              </a:tr>
            </a:tbl>
          </a:graphicData>
        </a:graphic>
      </p:graphicFrame>
    </p:spTree>
    <p:extLst>
      <p:ext uri="{BB962C8B-B14F-4D97-AF65-F5344CB8AC3E}">
        <p14:creationId xmlns:p14="http://schemas.microsoft.com/office/powerpoint/2010/main" val="40147516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ADABC-07DB-BE0A-BD48-978BA18F5D1C}"/>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Future Work</a:t>
            </a:r>
          </a:p>
        </p:txBody>
      </p:sp>
      <p:sp>
        <p:nvSpPr>
          <p:cNvPr id="3" name="Content Placeholder 2">
            <a:extLst>
              <a:ext uri="{FF2B5EF4-FFF2-40B4-BE49-F238E27FC236}">
                <a16:creationId xmlns:a16="http://schemas.microsoft.com/office/drawing/2014/main" id="{37392F47-5CF8-04F9-8C36-C878B05891D6}"/>
              </a:ext>
            </a:extLst>
          </p:cNvPr>
          <p:cNvSpPr>
            <a:spLocks noGrp="1"/>
          </p:cNvSpPr>
          <p:nvPr>
            <p:ph sz="quarter" idx="1"/>
          </p:nvPr>
        </p:nvSpPr>
        <p:spPr/>
        <p:txBody>
          <a:bodyPr/>
          <a:lstStyle/>
          <a:p>
            <a:pPr algn="just"/>
            <a:r>
              <a:rPr lang="en-US" dirty="0">
                <a:latin typeface="Times New Roman" panose="02020603050405020304" pitchFamily="18" charset="0"/>
                <a:cs typeface="Times New Roman" panose="02020603050405020304" pitchFamily="18" charset="0"/>
              </a:rPr>
              <a:t>In the current work, 2 overlays are being used, our own custom overlay for image processing, and the base overlay for output display on monitor. Work can be done to integrate the elements required for HDMI output from the base overlay into our custom designed overlay to avoid calling multiple overlay instances. Secondly, while the Sobel </a:t>
            </a:r>
            <a:r>
              <a:rPr lang="en-US" dirty="0" err="1">
                <a:latin typeface="Times New Roman" panose="02020603050405020304" pitchFamily="18" charset="0"/>
                <a:cs typeface="Times New Roman" panose="02020603050405020304" pitchFamily="18" charset="0"/>
              </a:rPr>
              <a:t>x,y</a:t>
            </a:r>
            <a:r>
              <a:rPr lang="en-US" dirty="0">
                <a:latin typeface="Times New Roman" panose="02020603050405020304" pitchFamily="18" charset="0"/>
                <a:cs typeface="Times New Roman" panose="02020603050405020304" pitchFamily="18" charset="0"/>
              </a:rPr>
              <a:t> speedup factor is over 200, the total time in hardware is still comparable to software since the gradient calculation is done in SW, which takes 1.2 seconds. To retain the HW advantage, gradient calculation needs to be implemented in the HW too.</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78317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1454D-31FA-F2FE-8C95-B86A1E1979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1947CA-9A30-FEFE-60DE-AE07AD0F4C62}"/>
              </a:ext>
            </a:extLst>
          </p:cNvPr>
          <p:cNvSpPr>
            <a:spLocks noGrp="1"/>
          </p:cNvSpPr>
          <p:nvPr>
            <p:ph type="title"/>
          </p:nvPr>
        </p:nvSpPr>
        <p:spPr>
          <a:xfrm>
            <a:off x="914400" y="3012948"/>
            <a:ext cx="10363200" cy="832104"/>
          </a:xfrm>
        </p:spPr>
        <p:txBody>
          <a:bodyPr/>
          <a:lstStyle/>
          <a:p>
            <a:pPr algn="ctr"/>
            <a:r>
              <a:rPr lang="en-US" sz="4400" b="1" dirty="0">
                <a:latin typeface="Times New Roman" panose="02020603050405020304" pitchFamily="18" charset="0"/>
                <a:cs typeface="Times New Roman" panose="02020603050405020304" pitchFamily="18" charset="0"/>
              </a:rPr>
              <a:t>THANK YOU</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41704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4BA0B-7457-19F1-C757-539DF96BD4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7BCC3A-2DEF-A42E-7C72-EBCBFFFEADE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Sample Output:</a:t>
            </a:r>
            <a:endParaRPr lang="en-IN" b="1"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D7D76B9D-4D9E-85F3-F37D-EA6CAC0A707B}"/>
              </a:ext>
            </a:extLst>
          </p:cNvPr>
          <p:cNvPicPr>
            <a:picLocks noGrp="1" noChangeAspect="1"/>
          </p:cNvPicPr>
          <p:nvPr>
            <p:ph sz="quarter" idx="1"/>
          </p:nvPr>
        </p:nvPicPr>
        <p:blipFill>
          <a:blip r:embed="rId2"/>
          <a:stretch>
            <a:fillRect/>
          </a:stretch>
        </p:blipFill>
        <p:spPr>
          <a:xfrm>
            <a:off x="1299972" y="1447800"/>
            <a:ext cx="9592055" cy="5135562"/>
          </a:xfrm>
          <a:prstGeom prst="rect">
            <a:avLst/>
          </a:prstGeom>
        </p:spPr>
      </p:pic>
    </p:spTree>
    <p:extLst>
      <p:ext uri="{BB962C8B-B14F-4D97-AF65-F5344CB8AC3E}">
        <p14:creationId xmlns:p14="http://schemas.microsoft.com/office/powerpoint/2010/main" val="7453932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8C5EC2B-7D2F-2661-741F-32BBD89D5B22}"/>
              </a:ext>
            </a:extLst>
          </p:cNvPr>
          <p:cNvSpPr>
            <a:spLocks noGrp="1"/>
          </p:cNvSpPr>
          <p:nvPr>
            <p:ph type="body" idx="1"/>
          </p:nvPr>
        </p:nvSpPr>
        <p:spPr>
          <a:xfrm>
            <a:off x="1219200" y="1243584"/>
            <a:ext cx="4978400" cy="966216"/>
          </a:xfrm>
        </p:spPr>
        <p:txBody>
          <a:bodyPr/>
          <a:lstStyle/>
          <a:p>
            <a:r>
              <a:rPr lang="en-IN" dirty="0">
                <a:latin typeface="Times New Roman" panose="02020603050405020304" pitchFamily="18" charset="0"/>
                <a:cs typeface="Times New Roman" panose="02020603050405020304" pitchFamily="18" charset="0"/>
              </a:rPr>
              <a:t>Phase 1: Core Implementation &amp; Demonstration</a:t>
            </a:r>
          </a:p>
        </p:txBody>
      </p:sp>
      <p:sp>
        <p:nvSpPr>
          <p:cNvPr id="4" name="Text Placeholder 3">
            <a:extLst>
              <a:ext uri="{FF2B5EF4-FFF2-40B4-BE49-F238E27FC236}">
                <a16:creationId xmlns:a16="http://schemas.microsoft.com/office/drawing/2014/main" id="{B2181A93-1C1D-3592-2C2D-40D14DC4B1D2}"/>
              </a:ext>
            </a:extLst>
          </p:cNvPr>
          <p:cNvSpPr>
            <a:spLocks noGrp="1"/>
          </p:cNvSpPr>
          <p:nvPr>
            <p:ph type="body" sz="half" idx="3"/>
          </p:nvPr>
        </p:nvSpPr>
        <p:spPr/>
        <p:txBody>
          <a:bodyPr/>
          <a:lstStyle/>
          <a:p>
            <a:r>
              <a:rPr lang="en-IN" dirty="0">
                <a:latin typeface="Times New Roman" panose="02020603050405020304" pitchFamily="18" charset="0"/>
                <a:cs typeface="Times New Roman" panose="02020603050405020304" pitchFamily="18" charset="0"/>
              </a:rPr>
              <a:t>Phase 2: Optimization &amp; Future Enhancements</a:t>
            </a:r>
          </a:p>
        </p:txBody>
      </p:sp>
      <p:sp>
        <p:nvSpPr>
          <p:cNvPr id="5" name="Content Placeholder 4">
            <a:extLst>
              <a:ext uri="{FF2B5EF4-FFF2-40B4-BE49-F238E27FC236}">
                <a16:creationId xmlns:a16="http://schemas.microsoft.com/office/drawing/2014/main" id="{76E555EA-5632-FEDE-5C1F-CB571FCBDAE1}"/>
              </a:ext>
            </a:extLst>
          </p:cNvPr>
          <p:cNvSpPr>
            <a:spLocks noGrp="1"/>
          </p:cNvSpPr>
          <p:nvPr>
            <p:ph sz="half" idx="2"/>
          </p:nvPr>
        </p:nvSpPr>
        <p:spPr/>
        <p:txBody>
          <a:bodyPr>
            <a:normAutofit/>
          </a:bodyPr>
          <a:lstStyle/>
          <a:p>
            <a:pPr algn="just"/>
            <a:r>
              <a:rPr lang="en-US" sz="2200" dirty="0">
                <a:latin typeface="Times New Roman" panose="02020603050405020304" pitchFamily="18" charset="0"/>
                <a:cs typeface="Times New Roman" panose="02020603050405020304" pitchFamily="18" charset="0"/>
              </a:rPr>
              <a:t>Implement real-time image edge detection using Sobel filters on the Pynq-Z2 FPGA board.</a:t>
            </a:r>
          </a:p>
          <a:p>
            <a:pPr algn="just"/>
            <a:r>
              <a:rPr lang="en-US" sz="2200" dirty="0">
                <a:latin typeface="Times New Roman" panose="02020603050405020304" pitchFamily="18" charset="0"/>
                <a:cs typeface="Times New Roman" panose="02020603050405020304" pitchFamily="18" charset="0"/>
              </a:rPr>
              <a:t>Design and develop VHDL-based hardware IPs (Sobel X and Sobel Y) with AXI-Stream compatibility.</a:t>
            </a:r>
          </a:p>
          <a:p>
            <a:pPr algn="just"/>
            <a:r>
              <a:rPr lang="en-US" sz="2200" dirty="0">
                <a:latin typeface="Times New Roman" panose="02020603050405020304" pitchFamily="18" charset="0"/>
                <a:cs typeface="Times New Roman" panose="02020603050405020304" pitchFamily="18" charset="0"/>
              </a:rPr>
              <a:t>Integrate the IPs into Vivado block design with DMA, AXI Smart Connect, and PS–PL interfaces.</a:t>
            </a:r>
            <a:endParaRPr lang="en-IN" sz="2200"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16D27ABC-BBD0-4539-B7BA-B285E5CC996F}"/>
              </a:ext>
            </a:extLst>
          </p:cNvPr>
          <p:cNvSpPr>
            <a:spLocks noGrp="1"/>
          </p:cNvSpPr>
          <p:nvPr>
            <p:ph sz="half" idx="4"/>
          </p:nvPr>
        </p:nvSpPr>
        <p:spPr/>
        <p:txBody>
          <a:bodyPr>
            <a:normAutofit/>
          </a:bodyPr>
          <a:lstStyle/>
          <a:p>
            <a:r>
              <a:rPr lang="en-US" sz="2400" dirty="0">
                <a:latin typeface="Times New Roman" panose="02020603050405020304" pitchFamily="18" charset="0"/>
                <a:cs typeface="Times New Roman" panose="02020603050405020304" pitchFamily="18" charset="0"/>
              </a:rPr>
              <a:t>Webcam input is processed through custom VHDL-based IP cores and displayed on an HDMI monitor. </a:t>
            </a:r>
          </a:p>
          <a:p>
            <a:r>
              <a:rPr lang="en-US" sz="2400" dirty="0">
                <a:latin typeface="Times New Roman" panose="02020603050405020304" pitchFamily="18" charset="0"/>
                <a:cs typeface="Times New Roman" panose="02020603050405020304" pitchFamily="18" charset="0"/>
              </a:rPr>
              <a:t>The design achieves over 200× speedup compared to software execution.</a:t>
            </a:r>
          </a:p>
          <a:p>
            <a:r>
              <a:rPr lang="en-US" sz="2400" dirty="0">
                <a:latin typeface="Times New Roman" panose="02020603050405020304" pitchFamily="18" charset="0"/>
                <a:cs typeface="Times New Roman" panose="02020603050405020304" pitchFamily="18" charset="0"/>
              </a:rPr>
              <a:t>Optimize the system by moving gradient magnitude computation from software to hardware.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63505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1D61503-6241-4597-8FE0-E405C7FA5532}">
  <we:reference id="wa200005566" version="3.0.0.2" store="en-US" storeType="OMEX"/>
  <we:alternateReferences>
    <we:reference id="WA200005566" version="3.0.0.2"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Equity</Template>
  <TotalTime>697</TotalTime>
  <Words>2736</Words>
  <Application>Microsoft Office PowerPoint</Application>
  <PresentationFormat>Widescreen</PresentationFormat>
  <Paragraphs>223</Paragraphs>
  <Slides>29</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Arial</vt:lpstr>
      <vt:lpstr>Calibri</vt:lpstr>
      <vt:lpstr>Franklin Gothic Book</vt:lpstr>
      <vt:lpstr>Perpetua</vt:lpstr>
      <vt:lpstr>Times New Roman</vt:lpstr>
      <vt:lpstr>Wingdings</vt:lpstr>
      <vt:lpstr>Wingdings 2</vt:lpstr>
      <vt:lpstr>Equity</vt:lpstr>
      <vt:lpstr>EDGE DETECTION USING PYNQ-Z2 BOARD</vt:lpstr>
      <vt:lpstr>ABSTRACT:</vt:lpstr>
      <vt:lpstr>INTRODUCTION:</vt:lpstr>
      <vt:lpstr>LITERATURE REVIEW</vt:lpstr>
      <vt:lpstr>PowerPoint Presentation</vt:lpstr>
      <vt:lpstr>PowerPoint Presentation</vt:lpstr>
      <vt:lpstr>OBJECTIVE:</vt:lpstr>
      <vt:lpstr>Implementation of Sobel Steps:</vt:lpstr>
      <vt:lpstr>PYNQ</vt:lpstr>
      <vt:lpstr>Board Overview </vt:lpstr>
      <vt:lpstr>PYNQ ARCHITECTURE</vt:lpstr>
      <vt:lpstr>Processing System (PS) and Programmable Logic (PL)</vt:lpstr>
      <vt:lpstr>PS-PL Integration</vt:lpstr>
      <vt:lpstr>Tools &amp; Libraries:</vt:lpstr>
      <vt:lpstr>FLOW CHART:</vt:lpstr>
      <vt:lpstr>BLOCK DIAGRAM:</vt:lpstr>
      <vt:lpstr>Sobel Working Principle :</vt:lpstr>
      <vt:lpstr>Schematic Diagram: </vt:lpstr>
      <vt:lpstr>Block Explanation: </vt:lpstr>
      <vt:lpstr>Block Explanation: </vt:lpstr>
      <vt:lpstr>Synthesis Result:</vt:lpstr>
      <vt:lpstr>Conclusion</vt:lpstr>
      <vt:lpstr>REFERENCES:</vt:lpstr>
      <vt:lpstr>Result and Discussions:</vt:lpstr>
      <vt:lpstr>Project Progress</vt:lpstr>
      <vt:lpstr>Future Work</vt:lpstr>
      <vt:lpstr>THANK YOU</vt:lpstr>
      <vt:lpstr>Sample Output: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EDGE DETECTION USING PYNQ-Z2 BOARD</dc:title>
  <dc:creator>P VAMSI KRISHNA</dc:creator>
  <cp:lastModifiedBy>P VAMSI KRISHNA</cp:lastModifiedBy>
  <cp:revision>9</cp:revision>
  <dcterms:created xsi:type="dcterms:W3CDTF">2025-08-07T08:26:39Z</dcterms:created>
  <dcterms:modified xsi:type="dcterms:W3CDTF">2025-11-06T12:41:31Z</dcterms:modified>
</cp:coreProperties>
</file>